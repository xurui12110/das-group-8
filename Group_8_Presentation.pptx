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notesSlides/notesSlide3.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notesSlides/notesSlide7.xml" ContentType="application/vnd.openxmlformats-officedocument.presentationml.notesSlide+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notesSlides/notesSlide8.xml" ContentType="application/vnd.openxmlformats-officedocument.presentationml.notesSlide+xml"/>
  <Override PartName="/ppt/tags/tag36.xml" ContentType="application/vnd.openxmlformats-officedocument.presentationml.tags+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1"/>
  </p:notesMasterIdLst>
  <p:sldIdLst>
    <p:sldId id="256" r:id="rId2"/>
    <p:sldId id="257" r:id="rId3"/>
    <p:sldId id="258" r:id="rId4"/>
    <p:sldId id="266" r:id="rId5"/>
    <p:sldId id="260" r:id="rId6"/>
    <p:sldId id="261" r:id="rId7"/>
    <p:sldId id="263" r:id="rId8"/>
    <p:sldId id="262" r:id="rId9"/>
    <p:sldId id="265"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showGuides="1">
      <p:cViewPr varScale="1">
        <p:scale>
          <a:sx n="96" d="100"/>
          <a:sy n="96" d="100"/>
        </p:scale>
        <p:origin x="60" y="31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3/22/2026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User-provided report screenshot: /mnt/data/7af7215a-24c7-4193-8d51-0e9a68f30592.png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User-provided report screenshots: /mnt/data/963a97dc-e5a8-4e16-aad8-3d235634196f.png, /mnt/data/9076f0e5-25cd-49ce-b80c-e1522464ac3f.png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User-provided report screenshots: /mnt/data/963a97dc-e5a8-4e16-aad8-3d235634196f.png, /mnt/data/9076f0e5-25cd-49ce-b80c-e1522464ac3f.png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IN">
    <p:bg>
      <p:bgPr>
        <a:solidFill>
          <a:srgbClr val="F7F7F5"/>
        </a:solidFill>
        <a:effectLst/>
      </p:bgPr>
    </p:bg>
    <p:spTree>
      <p:nvGrpSpPr>
        <p:cNvPr id="1" name=""/>
        <p:cNvGrpSpPr/>
        <p:nvPr/>
      </p:nvGrpSpPr>
      <p:grpSpPr>
        <a:xfrm>
          <a:off x="0" y="0"/>
          <a:ext cx="0" cy="0"/>
          <a:chOff x="0" y="0"/>
          <a:chExt cx="0" cy="0"/>
        </a:xfrm>
      </p:grpSpPr>
      <p:sp>
        <p:nvSpPr>
          <p:cNvPr id="2" name="Shape 0"/>
          <p:cNvSpPr/>
          <p:nvPr/>
        </p:nvSpPr>
        <p:spPr>
          <a:xfrm>
            <a:off x="502920" y="256032"/>
            <a:ext cx="384048" cy="0"/>
          </a:xfrm>
          <a:prstGeom prst="line">
            <a:avLst/>
          </a:prstGeom>
          <a:noFill/>
          <a:ln w="12700">
            <a:solidFill>
              <a:srgbClr val="333333"/>
            </a:solidFill>
            <a:prstDash val="solid"/>
          </a:ln>
        </p:spPr>
        <p:txBody>
          <a:bodyPr/>
          <a:lstStyle/>
          <a:p>
            <a:endParaRPr lang="zh-CN" altLang="en-US"/>
          </a:p>
        </p:txBody>
      </p:sp>
      <p:sp>
        <p:nvSpPr>
          <p:cNvPr id="3" name="Text 1"/>
          <p:cNvSpPr/>
          <p:nvPr/>
        </p:nvSpPr>
        <p:spPr>
          <a:xfrm>
            <a:off x="11064240" y="146304"/>
            <a:ext cx="640080" cy="182880"/>
          </a:xfrm>
          <a:prstGeom prst="rect">
            <a:avLst/>
          </a:prstGeom>
          <a:noFill/>
        </p:spPr>
        <p:txBody>
          <a:bodyPr wrap="square" rtlCol="0" anchor="ctr"/>
          <a:lstStyle/>
          <a:p>
            <a:pPr marL="0" indent="0" algn="r">
              <a:buNone/>
            </a:pPr>
            <a:r>
              <a:rPr lang="en-US" sz="800" dirty="0">
                <a:solidFill>
                  <a:srgbClr val="666666"/>
                </a:solidFill>
                <a:latin typeface="Aptos" pitchFamily="34" charset="0"/>
                <a:ea typeface="Aptos" pitchFamily="34" charset="-122"/>
                <a:cs typeface="Aptos" pitchFamily="34" charset="-120"/>
              </a:rPr>
              <a:t>Group 8</a:t>
            </a:r>
            <a:endParaRPr lang="en-US" sz="800" dirty="0"/>
          </a:p>
        </p:txBody>
      </p:sp>
      <p:sp>
        <p:nvSpPr>
          <p:cNvPr id="25" name="Slide Number Placeholder 0"/>
          <p:cNvSpPr>
            <a:spLocks noGrp="1"/>
          </p:cNvSpPr>
          <p:nvPr>
            <p:ph type="sldNum" sz="quarter" idx="4294967295"/>
          </p:nvPr>
        </p:nvSpPr>
        <p:spPr>
          <a:xfrm>
            <a:off x="502920" y="6446520"/>
            <a:ext cx="365760" cy="182880"/>
          </a:xfrm>
          <a:prstGeom prst="rect">
            <a:avLst/>
          </a:prstGeom>
        </p:spPr>
        <p:txBody>
          <a:bodyPr/>
          <a:lstStyle>
            <a:lvl1pPr>
              <a:defRPr sz="800">
                <a:solidFill>
                  <a:srgbClr val="9A9A9A"/>
                </a:solidFil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02920" y="6446520"/>
            <a:ext cx="365760" cy="182880"/>
          </a:xfrm>
          <a:prstGeom prst="rect">
            <a:avLst/>
          </a:prstGeom>
        </p:spPr>
        <p:txBody>
          <a:bodyPr/>
          <a:lstStyle>
            <a:lvl1pPr>
              <a:defRPr sz="800">
                <a:solidFill>
                  <a:srgbClr val="9A9A9A"/>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slideLayout" Target="../slideLayouts/slideLayout2.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tags" Target="../tags/tag15.xml"/><Relationship Id="rId7" Type="http://schemas.openxmlformats.org/officeDocument/2006/relationships/image" Target="../media/image4.png"/><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image" Target="../media/image3.png"/><Relationship Id="rId5" Type="http://schemas.openxmlformats.org/officeDocument/2006/relationships/notesSlide" Target="../notesSlides/notesSlide3.xml"/><Relationship Id="rId4"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tags" Target="../tags/tag18.xml"/><Relationship Id="rId7" Type="http://schemas.openxmlformats.org/officeDocument/2006/relationships/notesSlide" Target="../notesSlides/notesSlide4.xml"/><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slideLayout" Target="../slideLayouts/slideLayout2.xml"/><Relationship Id="rId5" Type="http://schemas.openxmlformats.org/officeDocument/2006/relationships/tags" Target="../tags/tag20.xml"/><Relationship Id="rId4" Type="http://schemas.openxmlformats.org/officeDocument/2006/relationships/tags" Target="../tags/tag19.xml"/><Relationship Id="rId9"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8" Type="http://schemas.openxmlformats.org/officeDocument/2006/relationships/tags" Target="../tags/tag28.xml"/><Relationship Id="rId3" Type="http://schemas.openxmlformats.org/officeDocument/2006/relationships/tags" Target="../tags/tag23.xml"/><Relationship Id="rId7" Type="http://schemas.openxmlformats.org/officeDocument/2006/relationships/tags" Target="../tags/tag27.xml"/><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tags" Target="../tags/tag26.xml"/><Relationship Id="rId11" Type="http://schemas.openxmlformats.org/officeDocument/2006/relationships/notesSlide" Target="../notesSlides/notesSlide7.xml"/><Relationship Id="rId5" Type="http://schemas.openxmlformats.org/officeDocument/2006/relationships/tags" Target="../tags/tag25.xml"/><Relationship Id="rId10" Type="http://schemas.openxmlformats.org/officeDocument/2006/relationships/slideLayout" Target="../slideLayouts/slideLayout2.xml"/><Relationship Id="rId4" Type="http://schemas.openxmlformats.org/officeDocument/2006/relationships/tags" Target="../tags/tag24.xml"/><Relationship Id="rId9" Type="http://schemas.openxmlformats.org/officeDocument/2006/relationships/tags" Target="../tags/tag29.xml"/></Relationships>
</file>

<file path=ppt/slides/_rels/slide8.xml.rels><?xml version="1.0" encoding="UTF-8" standalone="yes"?>
<Relationships xmlns="http://schemas.openxmlformats.org/package/2006/relationships"><Relationship Id="rId8" Type="http://schemas.openxmlformats.org/officeDocument/2006/relationships/notesSlide" Target="../notesSlides/notesSlide8.xml"/><Relationship Id="rId3" Type="http://schemas.openxmlformats.org/officeDocument/2006/relationships/tags" Target="../tags/tag32.xml"/><Relationship Id="rId7" Type="http://schemas.openxmlformats.org/officeDocument/2006/relationships/slideLayout" Target="../slideLayouts/slideLayout2.xml"/><Relationship Id="rId2" Type="http://schemas.openxmlformats.org/officeDocument/2006/relationships/tags" Target="../tags/tag31.xml"/><Relationship Id="rId1" Type="http://schemas.openxmlformats.org/officeDocument/2006/relationships/tags" Target="../tags/tag30.xml"/><Relationship Id="rId6" Type="http://schemas.openxmlformats.org/officeDocument/2006/relationships/tags" Target="../tags/tag35.xml"/><Relationship Id="rId5" Type="http://schemas.openxmlformats.org/officeDocument/2006/relationships/tags" Target="../tags/tag34.xml"/><Relationship Id="rId4" Type="http://schemas.openxmlformats.org/officeDocument/2006/relationships/tags" Target="../tags/tag33.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36.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58368" y="932688"/>
            <a:ext cx="7998616" cy="960120"/>
          </a:xfrm>
          <a:prstGeom prst="rect">
            <a:avLst/>
          </a:prstGeom>
          <a:noFill/>
        </p:spPr>
        <p:txBody>
          <a:bodyPr wrap="square" lIns="0" tIns="0" rIns="0" bIns="0" rtlCol="0" anchor="ctr"/>
          <a:lstStyle/>
          <a:p>
            <a:r>
              <a:rPr lang="en-US" sz="3200" b="1" dirty="0">
                <a:solidFill>
                  <a:srgbClr val="1F2937"/>
                </a:solidFill>
              </a:rPr>
              <a:t>What factors affect IMDB ratings above 7?</a:t>
            </a:r>
            <a:endParaRPr lang="en-US" sz="3200" dirty="0"/>
          </a:p>
        </p:txBody>
      </p:sp>
      <p:sp>
        <p:nvSpPr>
          <p:cNvPr id="4" name="Shape 2"/>
          <p:cNvSpPr/>
          <p:nvPr>
            <p:custDataLst>
              <p:tags r:id="rId1"/>
            </p:custDataLst>
          </p:nvPr>
        </p:nvSpPr>
        <p:spPr>
          <a:xfrm>
            <a:off x="753745" y="2549785"/>
            <a:ext cx="3566160" cy="1828800"/>
          </a:xfrm>
          <a:prstGeom prst="roundRect">
            <a:avLst>
              <a:gd name="adj" fmla="val 3000"/>
            </a:avLst>
          </a:prstGeom>
          <a:solidFill>
            <a:srgbClr val="FAFAF8"/>
          </a:solidFill>
          <a:ln w="12700">
            <a:solidFill>
              <a:srgbClr val="D6DCE5"/>
            </a:solidFill>
            <a:prstDash val="solid"/>
          </a:ln>
        </p:spPr>
        <p:txBody>
          <a:bodyPr/>
          <a:lstStyle/>
          <a:p>
            <a:endParaRPr lang="zh-CN" altLang="en-US"/>
          </a:p>
        </p:txBody>
      </p:sp>
      <p:sp>
        <p:nvSpPr>
          <p:cNvPr id="5" name="Text 3"/>
          <p:cNvSpPr/>
          <p:nvPr>
            <p:custDataLst>
              <p:tags r:id="rId2"/>
            </p:custDataLst>
          </p:nvPr>
        </p:nvSpPr>
        <p:spPr>
          <a:xfrm>
            <a:off x="936625" y="2750953"/>
            <a:ext cx="731520" cy="219456"/>
          </a:xfrm>
          <a:prstGeom prst="rect">
            <a:avLst/>
          </a:prstGeom>
          <a:noFill/>
        </p:spPr>
        <p:txBody>
          <a:bodyPr wrap="square" lIns="0" tIns="0" rIns="0" bIns="0" rtlCol="0" anchor="ctr"/>
          <a:lstStyle/>
          <a:p>
            <a:pPr marL="0" indent="0">
              <a:buNone/>
            </a:pPr>
            <a:r>
              <a:rPr lang="en-US" sz="1000" b="1" dirty="0">
                <a:solidFill>
                  <a:srgbClr val="2F5EA8"/>
                </a:solidFill>
              </a:rPr>
              <a:t>Part 1</a:t>
            </a:r>
            <a:endParaRPr lang="en-US" sz="1000" dirty="0"/>
          </a:p>
        </p:txBody>
      </p:sp>
      <p:sp>
        <p:nvSpPr>
          <p:cNvPr id="6" name="Text 4"/>
          <p:cNvSpPr/>
          <p:nvPr>
            <p:custDataLst>
              <p:tags r:id="rId3"/>
            </p:custDataLst>
          </p:nvPr>
        </p:nvSpPr>
        <p:spPr>
          <a:xfrm>
            <a:off x="936625" y="3025273"/>
            <a:ext cx="3017520" cy="347472"/>
          </a:xfrm>
          <a:prstGeom prst="rect">
            <a:avLst/>
          </a:prstGeom>
          <a:noFill/>
        </p:spPr>
        <p:txBody>
          <a:bodyPr wrap="square" lIns="0" tIns="0" rIns="0" bIns="0" rtlCol="0" anchor="ctr"/>
          <a:lstStyle/>
          <a:p>
            <a:pPr marL="0" indent="0">
              <a:buNone/>
            </a:pPr>
            <a:r>
              <a:rPr lang="en-US" sz="1800" b="1" dirty="0">
                <a:solidFill>
                  <a:srgbClr val="1F2937"/>
                </a:solidFill>
              </a:rPr>
              <a:t>Dataset</a:t>
            </a:r>
            <a:endParaRPr lang="en-US" sz="1800" dirty="0"/>
          </a:p>
        </p:txBody>
      </p:sp>
      <p:sp>
        <p:nvSpPr>
          <p:cNvPr id="7" name="Text 5"/>
          <p:cNvSpPr/>
          <p:nvPr>
            <p:custDataLst>
              <p:tags r:id="rId4"/>
            </p:custDataLst>
          </p:nvPr>
        </p:nvSpPr>
        <p:spPr>
          <a:xfrm>
            <a:off x="936625" y="3509905"/>
            <a:ext cx="3063240" cy="566928"/>
          </a:xfrm>
          <a:prstGeom prst="rect">
            <a:avLst/>
          </a:prstGeom>
          <a:noFill/>
        </p:spPr>
        <p:txBody>
          <a:bodyPr wrap="square" lIns="0" tIns="0" rIns="0" bIns="0" rtlCol="0" anchor="ctr"/>
          <a:lstStyle/>
          <a:p>
            <a:pPr marL="0" indent="0">
              <a:buNone/>
            </a:pPr>
            <a:r>
              <a:rPr lang="en-US" sz="1250" dirty="0">
                <a:solidFill>
                  <a:schemeClr val="tx1"/>
                </a:solidFill>
              </a:rPr>
              <a:t>What data we used</a:t>
            </a:r>
          </a:p>
          <a:p>
            <a:pPr marL="0" indent="0">
              <a:buNone/>
            </a:pPr>
            <a:r>
              <a:rPr lang="en-US" sz="1250" dirty="0">
                <a:solidFill>
                  <a:schemeClr val="tx1"/>
                </a:solidFill>
              </a:rPr>
              <a:t>and what the variables mean</a:t>
            </a:r>
          </a:p>
        </p:txBody>
      </p:sp>
      <p:sp>
        <p:nvSpPr>
          <p:cNvPr id="8" name="Shape 6"/>
          <p:cNvSpPr/>
          <p:nvPr>
            <p:custDataLst>
              <p:tags r:id="rId5"/>
            </p:custDataLst>
          </p:nvPr>
        </p:nvSpPr>
        <p:spPr>
          <a:xfrm>
            <a:off x="4521073" y="2549785"/>
            <a:ext cx="3566160" cy="1828800"/>
          </a:xfrm>
          <a:prstGeom prst="roundRect">
            <a:avLst>
              <a:gd name="adj" fmla="val 3000"/>
            </a:avLst>
          </a:prstGeom>
          <a:solidFill>
            <a:srgbClr val="F2F5FA"/>
          </a:solidFill>
          <a:ln w="12700">
            <a:solidFill>
              <a:srgbClr val="D6DCE5"/>
            </a:solidFill>
            <a:prstDash val="solid"/>
          </a:ln>
        </p:spPr>
        <p:txBody>
          <a:bodyPr/>
          <a:lstStyle/>
          <a:p>
            <a:endParaRPr lang="zh-CN" altLang="en-US"/>
          </a:p>
        </p:txBody>
      </p:sp>
      <p:sp>
        <p:nvSpPr>
          <p:cNvPr id="9" name="Text 7"/>
          <p:cNvSpPr/>
          <p:nvPr>
            <p:custDataLst>
              <p:tags r:id="rId6"/>
            </p:custDataLst>
          </p:nvPr>
        </p:nvSpPr>
        <p:spPr>
          <a:xfrm>
            <a:off x="4703953" y="2750953"/>
            <a:ext cx="731520" cy="219456"/>
          </a:xfrm>
          <a:prstGeom prst="rect">
            <a:avLst/>
          </a:prstGeom>
          <a:noFill/>
        </p:spPr>
        <p:txBody>
          <a:bodyPr wrap="square" lIns="0" tIns="0" rIns="0" bIns="0" rtlCol="0" anchor="ctr"/>
          <a:lstStyle/>
          <a:p>
            <a:pPr marL="0" indent="0">
              <a:buNone/>
            </a:pPr>
            <a:r>
              <a:rPr lang="en-US" sz="1000" b="1" dirty="0">
                <a:solidFill>
                  <a:srgbClr val="2F5EA8"/>
                </a:solidFill>
              </a:rPr>
              <a:t>Part 2</a:t>
            </a:r>
            <a:endParaRPr lang="en-US" sz="1000" dirty="0"/>
          </a:p>
        </p:txBody>
      </p:sp>
      <p:sp>
        <p:nvSpPr>
          <p:cNvPr id="10" name="Text 8"/>
          <p:cNvSpPr/>
          <p:nvPr>
            <p:custDataLst>
              <p:tags r:id="rId7"/>
            </p:custDataLst>
          </p:nvPr>
        </p:nvSpPr>
        <p:spPr>
          <a:xfrm>
            <a:off x="4703953" y="3025273"/>
            <a:ext cx="3017520" cy="347472"/>
          </a:xfrm>
          <a:prstGeom prst="rect">
            <a:avLst/>
          </a:prstGeom>
          <a:noFill/>
        </p:spPr>
        <p:txBody>
          <a:bodyPr wrap="square" lIns="0" tIns="0" rIns="0" bIns="0" rtlCol="0" anchor="ctr"/>
          <a:lstStyle/>
          <a:p>
            <a:pPr marL="0" indent="0">
              <a:buNone/>
            </a:pPr>
            <a:r>
              <a:rPr lang="en-US" sz="1800" b="1" dirty="0">
                <a:solidFill>
                  <a:srgbClr val="1F2937"/>
                </a:solidFill>
              </a:rPr>
              <a:t>Exploratory Analysis</a:t>
            </a:r>
            <a:endParaRPr lang="en-US" sz="1800" dirty="0"/>
          </a:p>
        </p:txBody>
      </p:sp>
      <p:sp>
        <p:nvSpPr>
          <p:cNvPr id="11" name="Text 9"/>
          <p:cNvSpPr/>
          <p:nvPr>
            <p:custDataLst>
              <p:tags r:id="rId8"/>
            </p:custDataLst>
          </p:nvPr>
        </p:nvSpPr>
        <p:spPr>
          <a:xfrm>
            <a:off x="4703953" y="3509905"/>
            <a:ext cx="3063240" cy="566928"/>
          </a:xfrm>
          <a:prstGeom prst="rect">
            <a:avLst/>
          </a:prstGeom>
          <a:noFill/>
        </p:spPr>
        <p:txBody>
          <a:bodyPr wrap="square" lIns="0" tIns="0" rIns="0" bIns="0" rtlCol="0" anchor="ctr"/>
          <a:lstStyle/>
          <a:p>
            <a:pPr marL="0" indent="0">
              <a:buNone/>
            </a:pPr>
            <a:r>
              <a:rPr lang="en-US" sz="1250" dirty="0"/>
              <a:t>What patterns we saw</a:t>
            </a:r>
          </a:p>
          <a:p>
            <a:pPr marL="0" indent="0">
              <a:buNone/>
            </a:pPr>
            <a:r>
              <a:rPr lang="en-US" sz="1250" dirty="0"/>
              <a:t>before modelling</a:t>
            </a:r>
          </a:p>
        </p:txBody>
      </p:sp>
      <p:sp>
        <p:nvSpPr>
          <p:cNvPr id="12" name="Shape 10"/>
          <p:cNvSpPr/>
          <p:nvPr>
            <p:custDataLst>
              <p:tags r:id="rId9"/>
            </p:custDataLst>
          </p:nvPr>
        </p:nvSpPr>
        <p:spPr>
          <a:xfrm>
            <a:off x="8288401" y="2549785"/>
            <a:ext cx="3566160" cy="1828800"/>
          </a:xfrm>
          <a:prstGeom prst="roundRect">
            <a:avLst>
              <a:gd name="adj" fmla="val 3000"/>
            </a:avLst>
          </a:prstGeom>
          <a:solidFill>
            <a:srgbClr val="FAFAF8"/>
          </a:solidFill>
          <a:ln w="12700">
            <a:solidFill>
              <a:srgbClr val="D6DCE5"/>
            </a:solidFill>
            <a:prstDash val="solid"/>
          </a:ln>
        </p:spPr>
        <p:txBody>
          <a:bodyPr/>
          <a:lstStyle/>
          <a:p>
            <a:endParaRPr lang="zh-CN" altLang="en-US"/>
          </a:p>
        </p:txBody>
      </p:sp>
      <p:sp>
        <p:nvSpPr>
          <p:cNvPr id="13" name="Text 11"/>
          <p:cNvSpPr/>
          <p:nvPr>
            <p:custDataLst>
              <p:tags r:id="rId10"/>
            </p:custDataLst>
          </p:nvPr>
        </p:nvSpPr>
        <p:spPr>
          <a:xfrm>
            <a:off x="8471281" y="2750953"/>
            <a:ext cx="731520" cy="219456"/>
          </a:xfrm>
          <a:prstGeom prst="rect">
            <a:avLst/>
          </a:prstGeom>
          <a:noFill/>
        </p:spPr>
        <p:txBody>
          <a:bodyPr wrap="square" lIns="0" tIns="0" rIns="0" bIns="0" rtlCol="0" anchor="ctr"/>
          <a:lstStyle/>
          <a:p>
            <a:pPr marL="0" indent="0">
              <a:buNone/>
            </a:pPr>
            <a:r>
              <a:rPr lang="en-US" sz="1000" b="1" dirty="0">
                <a:solidFill>
                  <a:srgbClr val="2F5EA8"/>
                </a:solidFill>
              </a:rPr>
              <a:t>Part 3</a:t>
            </a:r>
            <a:endParaRPr lang="en-US" sz="1000" dirty="0"/>
          </a:p>
        </p:txBody>
      </p:sp>
      <p:sp>
        <p:nvSpPr>
          <p:cNvPr id="14" name="Text 12"/>
          <p:cNvSpPr/>
          <p:nvPr>
            <p:custDataLst>
              <p:tags r:id="rId11"/>
            </p:custDataLst>
          </p:nvPr>
        </p:nvSpPr>
        <p:spPr>
          <a:xfrm>
            <a:off x="8471281" y="3025273"/>
            <a:ext cx="3017520" cy="347472"/>
          </a:xfrm>
          <a:prstGeom prst="rect">
            <a:avLst/>
          </a:prstGeom>
          <a:noFill/>
        </p:spPr>
        <p:txBody>
          <a:bodyPr wrap="square" lIns="0" tIns="0" rIns="0" bIns="0" rtlCol="0" anchor="ctr"/>
          <a:lstStyle/>
          <a:p>
            <a:pPr marL="0" indent="0">
              <a:buNone/>
            </a:pPr>
            <a:r>
              <a:rPr lang="en-US" sz="1800" b="1" dirty="0">
                <a:solidFill>
                  <a:srgbClr val="1F2937"/>
                </a:solidFill>
              </a:rPr>
              <a:t>Model Fitting</a:t>
            </a:r>
            <a:endParaRPr lang="en-US" sz="1800" dirty="0"/>
          </a:p>
        </p:txBody>
      </p:sp>
      <p:sp>
        <p:nvSpPr>
          <p:cNvPr id="15" name="Text 13"/>
          <p:cNvSpPr/>
          <p:nvPr>
            <p:custDataLst>
              <p:tags r:id="rId12"/>
            </p:custDataLst>
          </p:nvPr>
        </p:nvSpPr>
        <p:spPr>
          <a:xfrm>
            <a:off x="8471281" y="3509905"/>
            <a:ext cx="3063240" cy="566928"/>
          </a:xfrm>
          <a:prstGeom prst="rect">
            <a:avLst/>
          </a:prstGeom>
          <a:noFill/>
        </p:spPr>
        <p:txBody>
          <a:bodyPr wrap="square" lIns="0" tIns="0" rIns="0" bIns="0" rtlCol="0" anchor="ctr"/>
          <a:lstStyle/>
          <a:p>
            <a:pPr marL="0" algn="l">
              <a:buClrTx/>
              <a:buSzTx/>
              <a:buNone/>
            </a:pPr>
            <a:r>
              <a:rPr lang="en-US" sz="1250" dirty="0"/>
              <a:t>How we chose the final model</a:t>
            </a:r>
          </a:p>
          <a:p>
            <a:pPr marL="0" algn="l">
              <a:buClrTx/>
              <a:buSzTx/>
              <a:buNone/>
            </a:pPr>
            <a:r>
              <a:rPr lang="en-US" sz="1250" dirty="0"/>
              <a:t>and the main results</a:t>
            </a:r>
          </a:p>
        </p:txBody>
      </p:sp>
      <p:sp>
        <p:nvSpPr>
          <p:cNvPr id="25" name="Slide Number Placeholder 0"/>
          <p:cNvSpPr>
            <a:spLocks noGrp="1"/>
          </p:cNvSpPr>
          <p:nvPr>
            <p:ph type="sldNum" sz="quarter" idx="4294967295"/>
          </p:nvPr>
        </p:nvSpPr>
        <p:spPr>
          <a:xfrm>
            <a:off x="502920" y="6446520"/>
            <a:ext cx="365760" cy="182880"/>
          </a:xfrm>
          <a:prstGeom prst="rect">
            <a:avLst/>
          </a:prstGeom>
        </p:spPr>
        <p:txBody>
          <a:bodyPr/>
          <a:lstStyle>
            <a:lvl1pPr>
              <a:defRPr sz="800">
                <a:solidFill>
                  <a:srgbClr val="9A9A9A"/>
                </a:solidFill>
              </a:defRPr>
            </a:lvl1pPr>
          </a:lstStyle>
          <a:p>
            <a:pPr algn="l"/>
            <a:fld id="{F7021451-1387-4CA6-816F-3879F97B5CBC}" type="slidenum">
              <a:rPr lang="en-US" b="0"/>
              <a:t>1</a:t>
            </a:fld>
            <a:endParaRPr lang="en-US"/>
          </a:p>
        </p:txBody>
      </p:sp>
      <p:sp>
        <p:nvSpPr>
          <p:cNvPr id="3" name="文本框 2"/>
          <p:cNvSpPr txBox="1"/>
          <p:nvPr/>
        </p:nvSpPr>
        <p:spPr>
          <a:xfrm>
            <a:off x="753745" y="5085080"/>
            <a:ext cx="10785475" cy="369332"/>
          </a:xfrm>
          <a:prstGeom prst="rect">
            <a:avLst/>
          </a:prstGeom>
          <a:noFill/>
        </p:spPr>
        <p:txBody>
          <a:bodyPr wrap="square" rtlCol="0">
            <a:spAutoFit/>
          </a:bodyPr>
          <a:lstStyle/>
          <a:p>
            <a:r>
              <a:rPr lang="en-US" altLang="zh-CN" b="1" i="1" dirty="0"/>
              <a:t>Group 8</a:t>
            </a:r>
            <a:r>
              <a:rPr lang="en-US" altLang="zh-CN" i="1" dirty="0"/>
              <a:t>: </a:t>
            </a:r>
            <a:r>
              <a:rPr lang="en-US" altLang="zh-CN" i="1" dirty="0" err="1"/>
              <a:t>Zhiyao</a:t>
            </a:r>
            <a:r>
              <a:rPr lang="en-US" altLang="zh-CN" i="1" dirty="0"/>
              <a:t> Wang, </a:t>
            </a:r>
            <a:r>
              <a:rPr lang="en-US" altLang="zh-CN" i="1" dirty="0" err="1"/>
              <a:t>Zhenzi</a:t>
            </a:r>
            <a:r>
              <a:rPr lang="en-US" altLang="zh-CN" i="1" dirty="0"/>
              <a:t> Wang, Rui Xu, </a:t>
            </a:r>
            <a:r>
              <a:rPr lang="en-US" altLang="zh-CN" i="1" dirty="0" err="1"/>
              <a:t>Lixing</a:t>
            </a:r>
            <a:r>
              <a:rPr lang="en-US" altLang="zh-CN" i="1" dirty="0"/>
              <a:t> Liu, Ziyang Wang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68553" y="90932"/>
            <a:ext cx="2560320" cy="347472"/>
          </a:xfrm>
          <a:prstGeom prst="rect">
            <a:avLst/>
          </a:prstGeom>
          <a:noFill/>
        </p:spPr>
        <p:txBody>
          <a:bodyPr wrap="square" rtlCol="0" anchor="ctr"/>
          <a:lstStyle/>
          <a:p>
            <a:pPr marL="0" indent="0">
              <a:buNone/>
            </a:pPr>
            <a:r>
              <a:rPr lang="en-US" sz="1600" b="1" dirty="0">
                <a:solidFill>
                  <a:srgbClr val="9AA0A6"/>
                </a:solidFill>
              </a:rPr>
              <a:t>Part 1</a:t>
            </a:r>
            <a:endParaRPr lang="en-US" sz="1600" dirty="0"/>
          </a:p>
        </p:txBody>
      </p:sp>
      <p:sp>
        <p:nvSpPr>
          <p:cNvPr id="3" name="Text 1"/>
          <p:cNvSpPr/>
          <p:nvPr/>
        </p:nvSpPr>
        <p:spPr>
          <a:xfrm>
            <a:off x="502793" y="429768"/>
            <a:ext cx="6675120" cy="566928"/>
          </a:xfrm>
          <a:prstGeom prst="rect">
            <a:avLst/>
          </a:prstGeom>
          <a:noFill/>
        </p:spPr>
        <p:txBody>
          <a:bodyPr wrap="square" lIns="0" tIns="0" rIns="0" bIns="0" rtlCol="0" anchor="ctr"/>
          <a:lstStyle/>
          <a:p>
            <a:pPr marL="0" indent="0">
              <a:buNone/>
            </a:pPr>
            <a:r>
              <a:rPr lang="en-US" sz="2400" b="1" dirty="0">
                <a:solidFill>
                  <a:srgbClr val="1F2937"/>
                </a:solidFill>
              </a:rPr>
              <a:t>Dataset</a:t>
            </a:r>
            <a:endParaRPr lang="en-US" sz="2400" dirty="0"/>
          </a:p>
        </p:txBody>
      </p:sp>
      <p:sp>
        <p:nvSpPr>
          <p:cNvPr id="7" name="Text 5"/>
          <p:cNvSpPr/>
          <p:nvPr/>
        </p:nvSpPr>
        <p:spPr>
          <a:xfrm>
            <a:off x="822960" y="1425575"/>
            <a:ext cx="3794760" cy="1719072"/>
          </a:xfrm>
          <a:prstGeom prst="rect">
            <a:avLst/>
          </a:prstGeom>
          <a:noFill/>
        </p:spPr>
        <p:txBody>
          <a:bodyPr wrap="square" lIns="254" tIns="254" rIns="254" bIns="254" rtlCol="0" anchor="ctr"/>
          <a:lstStyle/>
          <a:p>
            <a:pPr marL="203200" indent="-203200">
              <a:buSzPct val="100000"/>
              <a:buChar char="•"/>
            </a:pPr>
            <a:r>
              <a:rPr lang="en-US" altLang="zh-CN" sz="1800" dirty="0"/>
              <a:t>2,847 films in the original dataset</a:t>
            </a:r>
          </a:p>
          <a:p>
            <a:pPr marL="203200" indent="-203200">
              <a:buSzPct val="100000"/>
              <a:buChar char="•"/>
            </a:pPr>
            <a:r>
              <a:rPr lang="en-US" altLang="zh-CN" sz="1800" dirty="0"/>
              <a:t>7 main variables were used in this study</a:t>
            </a:r>
          </a:p>
          <a:p>
            <a:pPr marL="203200" indent="-203200">
              <a:buSzPct val="100000"/>
              <a:buChar char="•"/>
            </a:pPr>
            <a:r>
              <a:rPr lang="en-US" altLang="zh-CN" sz="1800" dirty="0"/>
              <a:t>IMDB rating was changed into a binary outcome: rating &gt; 7</a:t>
            </a:r>
          </a:p>
          <a:p>
            <a:pPr marL="203200" indent="-203200">
              <a:buSzPct val="100000"/>
              <a:buChar char="•"/>
            </a:pPr>
            <a:r>
              <a:rPr lang="en-US" altLang="zh-CN" sz="1800" dirty="0"/>
              <a:t>Only film length has missing values (131 cases)</a:t>
            </a:r>
          </a:p>
        </p:txBody>
      </p:sp>
      <p:pic>
        <p:nvPicPr>
          <p:cNvPr id="10" name="Image 0" descr="/mnt/data/summary_table.png"/>
          <p:cNvPicPr>
            <a:picLocks noChangeAspect="1"/>
          </p:cNvPicPr>
          <p:nvPr/>
        </p:nvPicPr>
        <p:blipFill>
          <a:blip r:embed="rId3"/>
          <a:stretch>
            <a:fillRect/>
          </a:stretch>
        </p:blipFill>
        <p:spPr>
          <a:xfrm>
            <a:off x="4726305" y="1140606"/>
            <a:ext cx="6492240" cy="2288249"/>
          </a:xfrm>
          <a:prstGeom prst="rect">
            <a:avLst/>
          </a:prstGeom>
        </p:spPr>
      </p:pic>
      <p:sp>
        <p:nvSpPr>
          <p:cNvPr id="25" name="Slide Number Placeholder 0"/>
          <p:cNvSpPr>
            <a:spLocks noGrp="1"/>
          </p:cNvSpPr>
          <p:nvPr>
            <p:ph type="sldNum" sz="quarter" idx="4294967295"/>
          </p:nvPr>
        </p:nvSpPr>
        <p:spPr>
          <a:xfrm>
            <a:off x="502920" y="6446520"/>
            <a:ext cx="365760" cy="182880"/>
          </a:xfrm>
          <a:prstGeom prst="rect">
            <a:avLst/>
          </a:prstGeom>
        </p:spPr>
        <p:txBody>
          <a:bodyPr/>
          <a:lstStyle>
            <a:lvl1pPr>
              <a:defRPr sz="800">
                <a:solidFill>
                  <a:srgbClr val="9A9A9A"/>
                </a:solidFill>
              </a:defRPr>
            </a:lvl1pPr>
          </a:lstStyle>
          <a:p>
            <a:pPr algn="l"/>
            <a:fld id="{F7021451-1387-4CA6-816F-3879F97B5CBC}" type="slidenum">
              <a:rPr lang="en-US" b="0"/>
              <a:t>2</a:t>
            </a:fld>
            <a:endParaRPr lang="en-US"/>
          </a:p>
        </p:txBody>
      </p:sp>
      <p:pic>
        <p:nvPicPr>
          <p:cNvPr id="4" name="图片 3"/>
          <p:cNvPicPr>
            <a:picLocks noChangeAspect="1"/>
          </p:cNvPicPr>
          <p:nvPr/>
        </p:nvPicPr>
        <p:blipFill>
          <a:blip r:embed="rId4"/>
          <a:stretch>
            <a:fillRect/>
          </a:stretch>
        </p:blipFill>
        <p:spPr>
          <a:xfrm>
            <a:off x="868680" y="3803015"/>
            <a:ext cx="6086475" cy="2376170"/>
          </a:xfrm>
          <a:prstGeom prst="rect">
            <a:avLst/>
          </a:prstGeom>
        </p:spPr>
      </p:pic>
      <p:sp>
        <p:nvSpPr>
          <p:cNvPr id="6" name="文本框 5"/>
          <p:cNvSpPr txBox="1"/>
          <p:nvPr/>
        </p:nvSpPr>
        <p:spPr>
          <a:xfrm>
            <a:off x="7503160" y="3975735"/>
            <a:ext cx="3962400" cy="2030095"/>
          </a:xfrm>
          <a:prstGeom prst="rect">
            <a:avLst/>
          </a:prstGeom>
          <a:noFill/>
        </p:spPr>
        <p:txBody>
          <a:bodyPr wrap="square" rtlCol="0">
            <a:spAutoFit/>
          </a:bodyPr>
          <a:lstStyle/>
          <a:p>
            <a:r>
              <a:rPr lang="en-US" altLang="zh-CN" dirty="0"/>
              <a:t>Action, Drama, and Comedy are the largest genre groups in the dataset, while Romance has the fewest films. This shows that the dataset is dominated by a few major genres, and some smaller genres may be less stable in later analysis.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68553" y="123952"/>
            <a:ext cx="2560320" cy="347472"/>
          </a:xfrm>
          <a:prstGeom prst="rect">
            <a:avLst/>
          </a:prstGeom>
          <a:noFill/>
        </p:spPr>
        <p:txBody>
          <a:bodyPr wrap="square" rtlCol="0" anchor="ctr"/>
          <a:lstStyle/>
          <a:p>
            <a:pPr marL="0" indent="0">
              <a:buNone/>
            </a:pPr>
            <a:r>
              <a:rPr lang="en-US" sz="1600" b="1" dirty="0">
                <a:solidFill>
                  <a:srgbClr val="9AA0A6"/>
                </a:solidFill>
              </a:rPr>
              <a:t>Part 2</a:t>
            </a:r>
            <a:endParaRPr lang="en-US" sz="1600" dirty="0"/>
          </a:p>
        </p:txBody>
      </p:sp>
      <p:sp>
        <p:nvSpPr>
          <p:cNvPr id="3" name="Text 1"/>
          <p:cNvSpPr/>
          <p:nvPr/>
        </p:nvSpPr>
        <p:spPr>
          <a:xfrm>
            <a:off x="502793" y="471043"/>
            <a:ext cx="6675120" cy="566928"/>
          </a:xfrm>
          <a:prstGeom prst="rect">
            <a:avLst/>
          </a:prstGeom>
          <a:noFill/>
        </p:spPr>
        <p:txBody>
          <a:bodyPr wrap="square" lIns="0" tIns="0" rIns="0" bIns="0" rtlCol="0" anchor="ctr"/>
          <a:lstStyle/>
          <a:p>
            <a:pPr marL="0" indent="0">
              <a:buNone/>
            </a:pPr>
            <a:r>
              <a:rPr lang="en-US" sz="2400" b="1" dirty="0">
                <a:solidFill>
                  <a:srgbClr val="1F2937"/>
                </a:solidFill>
              </a:rPr>
              <a:t>Exploratory Analysis</a:t>
            </a:r>
            <a:endParaRPr lang="en-US" sz="2400" dirty="0"/>
          </a:p>
        </p:txBody>
      </p:sp>
      <p:sp>
        <p:nvSpPr>
          <p:cNvPr id="5" name="Text 3"/>
          <p:cNvSpPr/>
          <p:nvPr/>
        </p:nvSpPr>
        <p:spPr>
          <a:xfrm>
            <a:off x="636905" y="4098925"/>
            <a:ext cx="5344160" cy="566420"/>
          </a:xfrm>
          <a:prstGeom prst="rect">
            <a:avLst/>
          </a:prstGeom>
          <a:noFill/>
        </p:spPr>
        <p:txBody>
          <a:bodyPr wrap="square" lIns="0" tIns="0" rIns="0" bIns="0" rtlCol="0" anchor="ctr"/>
          <a:lstStyle/>
          <a:p>
            <a:pPr marL="0" indent="0">
              <a:buNone/>
            </a:pPr>
            <a:r>
              <a:rPr lang="en-US" sz="1000" b="1" dirty="0">
                <a:solidFill>
                  <a:srgbClr val="1F2937"/>
                </a:solidFill>
              </a:rPr>
              <a:t>figure 1 the relationship between release year and the proportion of successful films</a:t>
            </a:r>
          </a:p>
        </p:txBody>
      </p:sp>
      <p:sp>
        <p:nvSpPr>
          <p:cNvPr id="9" name="Shape 5"/>
          <p:cNvSpPr/>
          <p:nvPr/>
        </p:nvSpPr>
        <p:spPr>
          <a:xfrm>
            <a:off x="636905" y="4669155"/>
            <a:ext cx="5088890" cy="1757045"/>
          </a:xfrm>
          <a:prstGeom prst="roundRect">
            <a:avLst>
              <a:gd name="adj" fmla="val 4412"/>
            </a:avLst>
          </a:prstGeom>
          <a:solidFill>
            <a:srgbClr val="FCFCFB"/>
          </a:solidFill>
          <a:ln w="12700">
            <a:solidFill>
              <a:srgbClr val="E1E5EB"/>
            </a:solidFill>
            <a:prstDash val="solid"/>
          </a:ln>
        </p:spPr>
        <p:txBody>
          <a:bodyPr/>
          <a:lstStyle/>
          <a:p>
            <a:endParaRPr lang="zh-CN" altLang="en-US"/>
          </a:p>
        </p:txBody>
      </p:sp>
      <p:sp>
        <p:nvSpPr>
          <p:cNvPr id="10" name="Text 6"/>
          <p:cNvSpPr/>
          <p:nvPr/>
        </p:nvSpPr>
        <p:spPr>
          <a:xfrm>
            <a:off x="742950" y="4841875"/>
            <a:ext cx="4877435" cy="1389380"/>
          </a:xfrm>
          <a:prstGeom prst="rect">
            <a:avLst/>
          </a:prstGeom>
          <a:noFill/>
        </p:spPr>
        <p:txBody>
          <a:bodyPr wrap="square" lIns="0" tIns="0" rIns="0" bIns="0" rtlCol="0" anchor="ctr"/>
          <a:lstStyle/>
          <a:p>
            <a:pPr marL="0" indent="0" algn="just">
              <a:buNone/>
            </a:pPr>
            <a:r>
              <a:rPr lang="en-US" dirty="0">
                <a:solidFill>
                  <a:srgbClr val="1F2937"/>
                </a:solidFill>
              </a:rPr>
              <a:t>The red line shows the average success rate. Success rate was above average before 1930 and around 2000, but below average from 1950 to 1990. One possible reason </a:t>
            </a:r>
            <a:r>
              <a:rPr lang="en-US" altLang="zh-CN" dirty="0">
                <a:solidFill>
                  <a:srgbClr val="1F2937"/>
                </a:solidFill>
              </a:rPr>
              <a:t>for the decline</a:t>
            </a:r>
            <a:r>
              <a:rPr lang="en-US" dirty="0">
                <a:solidFill>
                  <a:srgbClr val="1F2937"/>
                </a:solidFill>
              </a:rPr>
              <a:t> is that audience expectations increased with social development</a:t>
            </a:r>
            <a:r>
              <a:rPr lang="en-US" dirty="0"/>
              <a:t>.</a:t>
            </a:r>
          </a:p>
        </p:txBody>
      </p:sp>
      <p:sp>
        <p:nvSpPr>
          <p:cNvPr id="25" name="Slide Number Placeholder 0"/>
          <p:cNvSpPr>
            <a:spLocks noGrp="1"/>
          </p:cNvSpPr>
          <p:nvPr>
            <p:ph type="sldNum" sz="quarter" idx="4294967295"/>
          </p:nvPr>
        </p:nvSpPr>
        <p:spPr>
          <a:xfrm>
            <a:off x="502920" y="6446520"/>
            <a:ext cx="365760" cy="182880"/>
          </a:xfrm>
          <a:prstGeom prst="rect">
            <a:avLst/>
          </a:prstGeom>
        </p:spPr>
        <p:txBody>
          <a:bodyPr/>
          <a:lstStyle>
            <a:lvl1pPr>
              <a:defRPr sz="800">
                <a:solidFill>
                  <a:srgbClr val="9A9A9A"/>
                </a:solidFill>
              </a:defRPr>
            </a:lvl1pPr>
          </a:lstStyle>
          <a:p>
            <a:pPr algn="l"/>
            <a:fld id="{F7021451-1387-4CA6-816F-3879F97B5CBC}" type="slidenum">
              <a:rPr lang="en-US" b="0"/>
              <a:t>3</a:t>
            </a:fld>
            <a:endParaRPr lang="en-US"/>
          </a:p>
        </p:txBody>
      </p:sp>
      <p:pic>
        <p:nvPicPr>
          <p:cNvPr id="11" name="图片 10" descr="fig-explo-year-1"/>
          <p:cNvPicPr>
            <a:picLocks noChangeAspect="1"/>
          </p:cNvPicPr>
          <p:nvPr/>
        </p:nvPicPr>
        <p:blipFill>
          <a:blip r:embed="rId6"/>
          <a:stretch>
            <a:fillRect/>
          </a:stretch>
        </p:blipFill>
        <p:spPr>
          <a:xfrm>
            <a:off x="874395" y="1042670"/>
            <a:ext cx="4320000" cy="2880000"/>
          </a:xfrm>
          <a:prstGeom prst="rect">
            <a:avLst/>
          </a:prstGeom>
        </p:spPr>
      </p:pic>
      <p:pic>
        <p:nvPicPr>
          <p:cNvPr id="12" name="图片 11" descr="fig-explo-length-1"/>
          <p:cNvPicPr>
            <a:picLocks noChangeAspect="1"/>
          </p:cNvPicPr>
          <p:nvPr/>
        </p:nvPicPr>
        <p:blipFill>
          <a:blip r:embed="rId7"/>
          <a:stretch>
            <a:fillRect/>
          </a:stretch>
        </p:blipFill>
        <p:spPr>
          <a:xfrm>
            <a:off x="6951345" y="1038225"/>
            <a:ext cx="4320000" cy="2880000"/>
          </a:xfrm>
          <a:prstGeom prst="rect">
            <a:avLst/>
          </a:prstGeom>
        </p:spPr>
      </p:pic>
      <p:sp>
        <p:nvSpPr>
          <p:cNvPr id="4" name="Text 3"/>
          <p:cNvSpPr/>
          <p:nvPr>
            <p:custDataLst>
              <p:tags r:id="rId1"/>
            </p:custDataLst>
          </p:nvPr>
        </p:nvSpPr>
        <p:spPr>
          <a:xfrm>
            <a:off x="6439535" y="4098925"/>
            <a:ext cx="5344160" cy="566420"/>
          </a:xfrm>
          <a:prstGeom prst="rect">
            <a:avLst/>
          </a:prstGeom>
          <a:noFill/>
        </p:spPr>
        <p:txBody>
          <a:bodyPr wrap="square" lIns="0" tIns="0" rIns="0" bIns="0" rtlCol="0" anchor="ctr"/>
          <a:lstStyle/>
          <a:p>
            <a:pPr marL="0" indent="0">
              <a:buNone/>
            </a:pPr>
            <a:r>
              <a:rPr lang="en-US" sz="1000" b="1" dirty="0">
                <a:solidFill>
                  <a:srgbClr val="1F2937"/>
                </a:solidFill>
              </a:rPr>
              <a:t>figure 2 the relationship between flim length and the proportion of successful films</a:t>
            </a:r>
          </a:p>
        </p:txBody>
      </p:sp>
      <p:sp>
        <p:nvSpPr>
          <p:cNvPr id="7" name="Shape 5"/>
          <p:cNvSpPr/>
          <p:nvPr>
            <p:custDataLst>
              <p:tags r:id="rId2"/>
            </p:custDataLst>
          </p:nvPr>
        </p:nvSpPr>
        <p:spPr>
          <a:xfrm>
            <a:off x="6439535" y="4665345"/>
            <a:ext cx="5088890" cy="1757045"/>
          </a:xfrm>
          <a:prstGeom prst="roundRect">
            <a:avLst>
              <a:gd name="adj" fmla="val 4412"/>
            </a:avLst>
          </a:prstGeom>
          <a:solidFill>
            <a:srgbClr val="FCFCFB"/>
          </a:solidFill>
          <a:ln w="12700">
            <a:solidFill>
              <a:srgbClr val="E1E5EB"/>
            </a:solidFill>
            <a:prstDash val="solid"/>
          </a:ln>
        </p:spPr>
        <p:txBody>
          <a:bodyPr/>
          <a:lstStyle/>
          <a:p>
            <a:endParaRPr lang="zh-CN" altLang="en-US"/>
          </a:p>
        </p:txBody>
      </p:sp>
      <p:sp>
        <p:nvSpPr>
          <p:cNvPr id="8" name="Text 6"/>
          <p:cNvSpPr/>
          <p:nvPr>
            <p:custDataLst>
              <p:tags r:id="rId3"/>
            </p:custDataLst>
          </p:nvPr>
        </p:nvSpPr>
        <p:spPr>
          <a:xfrm>
            <a:off x="6544945" y="4846320"/>
            <a:ext cx="4877435" cy="1389380"/>
          </a:xfrm>
          <a:prstGeom prst="rect">
            <a:avLst/>
          </a:prstGeom>
          <a:noFill/>
        </p:spPr>
        <p:txBody>
          <a:bodyPr wrap="square" lIns="0" tIns="0" rIns="0" bIns="0" rtlCol="0" anchor="ctr"/>
          <a:lstStyle/>
          <a:p>
            <a:pPr marL="0" indent="0" algn="just">
              <a:buNone/>
            </a:pPr>
            <a:r>
              <a:rPr lang="en-US" dirty="0"/>
              <a:t>There is a clear downward trend. This means that shorter films are more likely to succeed than longer films. One possible reason is that shorter films are easier for audiences to understand and enjoy.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68553" y="123952"/>
            <a:ext cx="2560320" cy="347472"/>
          </a:xfrm>
          <a:prstGeom prst="rect">
            <a:avLst/>
          </a:prstGeom>
          <a:noFill/>
        </p:spPr>
        <p:txBody>
          <a:bodyPr wrap="square" rtlCol="0" anchor="ctr"/>
          <a:lstStyle/>
          <a:p>
            <a:pPr marL="0" indent="0">
              <a:buNone/>
            </a:pPr>
            <a:r>
              <a:rPr lang="en-US" sz="1600" b="1" dirty="0">
                <a:solidFill>
                  <a:srgbClr val="9AA0A6"/>
                </a:solidFill>
              </a:rPr>
              <a:t>Part 2</a:t>
            </a:r>
            <a:endParaRPr lang="en-US" sz="1600" dirty="0"/>
          </a:p>
        </p:txBody>
      </p:sp>
      <p:sp>
        <p:nvSpPr>
          <p:cNvPr id="3" name="Text 1"/>
          <p:cNvSpPr/>
          <p:nvPr/>
        </p:nvSpPr>
        <p:spPr>
          <a:xfrm>
            <a:off x="502793" y="471043"/>
            <a:ext cx="6675120" cy="566928"/>
          </a:xfrm>
          <a:prstGeom prst="rect">
            <a:avLst/>
          </a:prstGeom>
          <a:noFill/>
        </p:spPr>
        <p:txBody>
          <a:bodyPr wrap="square" lIns="0" tIns="0" rIns="0" bIns="0" rtlCol="0" anchor="ctr"/>
          <a:lstStyle/>
          <a:p>
            <a:pPr marL="0" indent="0">
              <a:buNone/>
            </a:pPr>
            <a:r>
              <a:rPr lang="en-US" sz="2400" b="1" dirty="0">
                <a:solidFill>
                  <a:srgbClr val="1F2937"/>
                </a:solidFill>
              </a:rPr>
              <a:t>Exploratory Analysis</a:t>
            </a:r>
            <a:endParaRPr lang="en-US" sz="2400" dirty="0"/>
          </a:p>
        </p:txBody>
      </p:sp>
      <p:sp>
        <p:nvSpPr>
          <p:cNvPr id="5" name="Text 3"/>
          <p:cNvSpPr/>
          <p:nvPr/>
        </p:nvSpPr>
        <p:spPr>
          <a:xfrm>
            <a:off x="636905" y="4098925"/>
            <a:ext cx="5344160" cy="566420"/>
          </a:xfrm>
          <a:prstGeom prst="rect">
            <a:avLst/>
          </a:prstGeom>
          <a:noFill/>
        </p:spPr>
        <p:txBody>
          <a:bodyPr wrap="square" lIns="0" tIns="0" rIns="0" bIns="0" rtlCol="0" anchor="ctr"/>
          <a:lstStyle/>
          <a:p>
            <a:pPr marL="0" indent="0">
              <a:buNone/>
            </a:pPr>
            <a:r>
              <a:rPr lang="en-US" sz="1000" b="1" dirty="0">
                <a:solidFill>
                  <a:srgbClr val="1F2937"/>
                </a:solidFill>
              </a:rPr>
              <a:t>figure 3 the relationship between budget and the proportion of successful films</a:t>
            </a:r>
          </a:p>
        </p:txBody>
      </p:sp>
      <p:sp>
        <p:nvSpPr>
          <p:cNvPr id="9" name="Shape 5"/>
          <p:cNvSpPr/>
          <p:nvPr/>
        </p:nvSpPr>
        <p:spPr>
          <a:xfrm>
            <a:off x="523240" y="4548505"/>
            <a:ext cx="5202555" cy="1877695"/>
          </a:xfrm>
          <a:prstGeom prst="roundRect">
            <a:avLst>
              <a:gd name="adj" fmla="val 4412"/>
            </a:avLst>
          </a:prstGeom>
          <a:solidFill>
            <a:srgbClr val="FCFCFB"/>
          </a:solidFill>
          <a:ln w="12700">
            <a:solidFill>
              <a:srgbClr val="E1E5EB"/>
            </a:solidFill>
            <a:prstDash val="solid"/>
          </a:ln>
        </p:spPr>
        <p:txBody>
          <a:bodyPr/>
          <a:lstStyle/>
          <a:p>
            <a:endParaRPr lang="zh-CN" altLang="en-US"/>
          </a:p>
        </p:txBody>
      </p:sp>
      <p:sp>
        <p:nvSpPr>
          <p:cNvPr id="10" name="Text 6"/>
          <p:cNvSpPr/>
          <p:nvPr/>
        </p:nvSpPr>
        <p:spPr>
          <a:xfrm>
            <a:off x="685799" y="4792662"/>
            <a:ext cx="4877435" cy="1389380"/>
          </a:xfrm>
          <a:prstGeom prst="rect">
            <a:avLst/>
          </a:prstGeom>
          <a:noFill/>
        </p:spPr>
        <p:txBody>
          <a:bodyPr wrap="square" lIns="0" tIns="0" rIns="0" bIns="0" rtlCol="0" anchor="ctr"/>
          <a:lstStyle/>
          <a:p>
            <a:pPr marL="0" indent="0" algn="just">
              <a:buNone/>
            </a:pPr>
            <a:r>
              <a:rPr lang="en-US" sz="1600" dirty="0"/>
              <a:t>A clear upward trend can be seen in the figure 3. This means that as budget increases, the proportion of successful films also increases. In other words, films with higher budgets are more likely to be successful. One possible reason is that higher-budget films may have better production quality, stronger promotion, and wider audience attention.</a:t>
            </a:r>
          </a:p>
        </p:txBody>
      </p:sp>
      <p:sp>
        <p:nvSpPr>
          <p:cNvPr id="25" name="Slide Number Placeholder 0"/>
          <p:cNvSpPr>
            <a:spLocks noGrp="1"/>
          </p:cNvSpPr>
          <p:nvPr>
            <p:ph type="sldNum" sz="quarter" idx="4294967295"/>
          </p:nvPr>
        </p:nvSpPr>
        <p:spPr>
          <a:xfrm>
            <a:off x="502920" y="6446520"/>
            <a:ext cx="365760" cy="182880"/>
          </a:xfrm>
          <a:prstGeom prst="rect">
            <a:avLst/>
          </a:prstGeom>
        </p:spPr>
        <p:txBody>
          <a:bodyPr/>
          <a:lstStyle>
            <a:lvl1pPr>
              <a:defRPr sz="800">
                <a:solidFill>
                  <a:srgbClr val="9A9A9A"/>
                </a:solidFill>
              </a:defRPr>
            </a:lvl1pPr>
          </a:lstStyle>
          <a:p>
            <a:pPr algn="l"/>
            <a:fld id="{F7021451-1387-4CA6-816F-3879F97B5CBC}" type="slidenum">
              <a:rPr lang="en-US" b="0"/>
              <a:t>4</a:t>
            </a:fld>
            <a:endParaRPr lang="en-US"/>
          </a:p>
        </p:txBody>
      </p:sp>
      <p:sp>
        <p:nvSpPr>
          <p:cNvPr id="4" name="Text 3"/>
          <p:cNvSpPr/>
          <p:nvPr>
            <p:custDataLst>
              <p:tags r:id="rId1"/>
            </p:custDataLst>
          </p:nvPr>
        </p:nvSpPr>
        <p:spPr>
          <a:xfrm>
            <a:off x="6439535" y="4098925"/>
            <a:ext cx="5344160" cy="566420"/>
          </a:xfrm>
          <a:prstGeom prst="rect">
            <a:avLst/>
          </a:prstGeom>
          <a:noFill/>
        </p:spPr>
        <p:txBody>
          <a:bodyPr wrap="square" lIns="0" tIns="0" rIns="0" bIns="0" rtlCol="0" anchor="ctr"/>
          <a:lstStyle/>
          <a:p>
            <a:pPr marL="0" indent="0">
              <a:buNone/>
            </a:pPr>
            <a:r>
              <a:rPr lang="en-US" sz="1000" b="1" dirty="0">
                <a:solidFill>
                  <a:srgbClr val="1F2937"/>
                </a:solidFill>
              </a:rPr>
              <a:t>figure 4 the relationship between genre and the proportion of successful films</a:t>
            </a:r>
          </a:p>
        </p:txBody>
      </p:sp>
      <p:sp>
        <p:nvSpPr>
          <p:cNvPr id="7" name="Shape 5"/>
          <p:cNvSpPr/>
          <p:nvPr>
            <p:custDataLst>
              <p:tags r:id="rId2"/>
            </p:custDataLst>
          </p:nvPr>
        </p:nvSpPr>
        <p:spPr>
          <a:xfrm>
            <a:off x="6439535" y="4665345"/>
            <a:ext cx="5088890" cy="1757045"/>
          </a:xfrm>
          <a:prstGeom prst="roundRect">
            <a:avLst>
              <a:gd name="adj" fmla="val 4412"/>
            </a:avLst>
          </a:prstGeom>
          <a:solidFill>
            <a:srgbClr val="FCFCFB"/>
          </a:solidFill>
          <a:ln w="12700">
            <a:solidFill>
              <a:srgbClr val="E1E5EB"/>
            </a:solidFill>
            <a:prstDash val="solid"/>
          </a:ln>
        </p:spPr>
        <p:txBody>
          <a:bodyPr/>
          <a:lstStyle/>
          <a:p>
            <a:endParaRPr lang="zh-CN" altLang="en-US"/>
          </a:p>
        </p:txBody>
      </p:sp>
      <p:sp>
        <p:nvSpPr>
          <p:cNvPr id="8" name="Text 6"/>
          <p:cNvSpPr/>
          <p:nvPr>
            <p:custDataLst>
              <p:tags r:id="rId3"/>
            </p:custDataLst>
          </p:nvPr>
        </p:nvSpPr>
        <p:spPr>
          <a:xfrm>
            <a:off x="6545262" y="4849177"/>
            <a:ext cx="4877435" cy="1389380"/>
          </a:xfrm>
          <a:prstGeom prst="rect">
            <a:avLst/>
          </a:prstGeom>
          <a:noFill/>
        </p:spPr>
        <p:txBody>
          <a:bodyPr wrap="square" lIns="0" tIns="0" rIns="0" bIns="0" rtlCol="0" anchor="ctr"/>
          <a:lstStyle/>
          <a:p>
            <a:pPr marL="0" indent="0" algn="just">
              <a:buNone/>
            </a:pPr>
            <a:r>
              <a:rPr lang="en-US" sz="1600" dirty="0"/>
              <a:t>The figure suggests that genre may affect film success. One possible reason is that audiences have different interests for different types of films, so some genres may be more likely to receive higher ratings than others.</a:t>
            </a:r>
          </a:p>
        </p:txBody>
      </p:sp>
      <p:pic>
        <p:nvPicPr>
          <p:cNvPr id="6" name="图片 5" descr="fig-explo-budget-1"/>
          <p:cNvPicPr>
            <a:picLocks noChangeAspect="1"/>
          </p:cNvPicPr>
          <p:nvPr>
            <p:custDataLst>
              <p:tags r:id="rId4"/>
            </p:custDataLst>
          </p:nvPr>
        </p:nvPicPr>
        <p:blipFill>
          <a:blip r:embed="rId8"/>
          <a:stretch>
            <a:fillRect/>
          </a:stretch>
        </p:blipFill>
        <p:spPr>
          <a:xfrm>
            <a:off x="1148715" y="1029335"/>
            <a:ext cx="4320000" cy="2880000"/>
          </a:xfrm>
          <a:prstGeom prst="rect">
            <a:avLst/>
          </a:prstGeom>
        </p:spPr>
      </p:pic>
      <p:pic>
        <p:nvPicPr>
          <p:cNvPr id="13" name="图片 12" descr="fig-explo-genre-1"/>
          <p:cNvPicPr>
            <a:picLocks noChangeAspect="1"/>
          </p:cNvPicPr>
          <p:nvPr>
            <p:custDataLst>
              <p:tags r:id="rId5"/>
            </p:custDataLst>
          </p:nvPr>
        </p:nvPicPr>
        <p:blipFill>
          <a:blip r:embed="rId9"/>
          <a:stretch>
            <a:fillRect/>
          </a:stretch>
        </p:blipFill>
        <p:spPr>
          <a:xfrm>
            <a:off x="6951345" y="1033145"/>
            <a:ext cx="4320000" cy="2880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68553" y="109982"/>
            <a:ext cx="2560320" cy="347472"/>
          </a:xfrm>
          <a:prstGeom prst="rect">
            <a:avLst/>
          </a:prstGeom>
          <a:noFill/>
        </p:spPr>
        <p:txBody>
          <a:bodyPr wrap="square" rtlCol="0" anchor="ctr"/>
          <a:lstStyle/>
          <a:p>
            <a:pPr marL="0" indent="0">
              <a:buNone/>
            </a:pPr>
            <a:r>
              <a:rPr lang="en-US" sz="1600" b="1" dirty="0">
                <a:solidFill>
                  <a:srgbClr val="9AA0A6"/>
                </a:solidFill>
              </a:rPr>
              <a:t>Part 3</a:t>
            </a:r>
            <a:endParaRPr lang="en-US" sz="1600" dirty="0"/>
          </a:p>
        </p:txBody>
      </p:sp>
      <p:sp>
        <p:nvSpPr>
          <p:cNvPr id="3" name="Text 1"/>
          <p:cNvSpPr/>
          <p:nvPr/>
        </p:nvSpPr>
        <p:spPr>
          <a:xfrm>
            <a:off x="658368" y="420878"/>
            <a:ext cx="6675120" cy="566928"/>
          </a:xfrm>
          <a:prstGeom prst="rect">
            <a:avLst/>
          </a:prstGeom>
          <a:noFill/>
        </p:spPr>
        <p:txBody>
          <a:bodyPr wrap="square" lIns="0" tIns="0" rIns="0" bIns="0" rtlCol="0" anchor="ctr"/>
          <a:lstStyle/>
          <a:p>
            <a:pPr marL="0" indent="0">
              <a:buNone/>
            </a:pPr>
            <a:r>
              <a:rPr lang="en-US" sz="2400" b="1" dirty="0">
                <a:solidFill>
                  <a:srgbClr val="1F2937"/>
                </a:solidFill>
              </a:rPr>
              <a:t>Model Fitting</a:t>
            </a:r>
            <a:endParaRPr lang="en-US" sz="2400" dirty="0"/>
          </a:p>
        </p:txBody>
      </p:sp>
      <p:sp>
        <p:nvSpPr>
          <p:cNvPr id="7" name="Text 5"/>
          <p:cNvSpPr/>
          <p:nvPr/>
        </p:nvSpPr>
        <p:spPr>
          <a:xfrm>
            <a:off x="768604" y="913638"/>
            <a:ext cx="1097280" cy="219456"/>
          </a:xfrm>
          <a:prstGeom prst="rect">
            <a:avLst/>
          </a:prstGeom>
          <a:noFill/>
        </p:spPr>
        <p:txBody>
          <a:bodyPr wrap="square" lIns="0" tIns="0" rIns="0" bIns="0" rtlCol="0" anchor="ctr"/>
          <a:lstStyle/>
          <a:p>
            <a:pPr marL="0" indent="0">
              <a:buNone/>
            </a:pPr>
            <a:r>
              <a:rPr lang="en-US" sz="1550" b="1" dirty="0">
                <a:solidFill>
                  <a:srgbClr val="1F2937"/>
                </a:solidFill>
              </a:rPr>
              <a:t>Full model</a:t>
            </a:r>
            <a:endParaRPr lang="en-US" sz="1550" dirty="0"/>
          </a:p>
        </p:txBody>
      </p:sp>
      <p:sp>
        <p:nvSpPr>
          <p:cNvPr id="8" name="Text 6"/>
          <p:cNvSpPr/>
          <p:nvPr/>
        </p:nvSpPr>
        <p:spPr>
          <a:xfrm>
            <a:off x="658749" y="1445514"/>
            <a:ext cx="4937760" cy="274320"/>
          </a:xfrm>
          <a:prstGeom prst="rect">
            <a:avLst/>
          </a:prstGeom>
          <a:noFill/>
        </p:spPr>
        <p:txBody>
          <a:bodyPr wrap="square" lIns="0" tIns="0" rIns="0" bIns="0" rtlCol="0" anchor="ctr"/>
          <a:lstStyle/>
          <a:p>
            <a:pPr marL="0" indent="0">
              <a:buNone/>
            </a:pPr>
            <a:r>
              <a:rPr lang="en-US" sz="1600" i="1" dirty="0">
                <a:solidFill>
                  <a:srgbClr val="111827"/>
                </a:solidFill>
              </a:rPr>
              <a:t>high_rating ~ year + length + budget + votes + genre</a:t>
            </a:r>
            <a:endParaRPr lang="en-US" sz="1600" i="1" dirty="0"/>
          </a:p>
        </p:txBody>
      </p:sp>
      <p:sp>
        <p:nvSpPr>
          <p:cNvPr id="9" name="Text 7"/>
          <p:cNvSpPr/>
          <p:nvPr/>
        </p:nvSpPr>
        <p:spPr>
          <a:xfrm>
            <a:off x="6199632" y="913003"/>
            <a:ext cx="1463040" cy="219456"/>
          </a:xfrm>
          <a:prstGeom prst="rect">
            <a:avLst/>
          </a:prstGeom>
          <a:noFill/>
        </p:spPr>
        <p:txBody>
          <a:bodyPr wrap="square" lIns="0" tIns="0" rIns="0" bIns="0" rtlCol="0" anchor="ctr"/>
          <a:lstStyle/>
          <a:p>
            <a:pPr marL="0" indent="0">
              <a:buNone/>
            </a:pPr>
            <a:r>
              <a:rPr lang="en-US" sz="1550" b="1" dirty="0">
                <a:solidFill>
                  <a:srgbClr val="1F2937"/>
                </a:solidFill>
              </a:rPr>
              <a:t>Reduced model</a:t>
            </a:r>
            <a:endParaRPr lang="en-US" sz="1550" dirty="0"/>
          </a:p>
        </p:txBody>
      </p:sp>
      <p:sp>
        <p:nvSpPr>
          <p:cNvPr id="10" name="Text 8"/>
          <p:cNvSpPr/>
          <p:nvPr/>
        </p:nvSpPr>
        <p:spPr>
          <a:xfrm>
            <a:off x="6199632" y="1445514"/>
            <a:ext cx="4754880" cy="274320"/>
          </a:xfrm>
          <a:prstGeom prst="rect">
            <a:avLst/>
          </a:prstGeom>
          <a:noFill/>
        </p:spPr>
        <p:txBody>
          <a:bodyPr wrap="square" lIns="0" tIns="0" rIns="0" bIns="0" rtlCol="0" anchor="ctr"/>
          <a:lstStyle/>
          <a:p>
            <a:pPr marL="0" indent="0">
              <a:buNone/>
            </a:pPr>
            <a:r>
              <a:rPr lang="en-US" sz="1600" i="1" dirty="0">
                <a:solidFill>
                  <a:srgbClr val="111827"/>
                </a:solidFill>
              </a:rPr>
              <a:t>high_rating ~ year + length + budget + genre</a:t>
            </a:r>
            <a:endParaRPr lang="en-US" sz="1600" dirty="0"/>
          </a:p>
        </p:txBody>
      </p:sp>
      <p:grpSp>
        <p:nvGrpSpPr>
          <p:cNvPr id="45" name="组合 44"/>
          <p:cNvGrpSpPr/>
          <p:nvPr/>
        </p:nvGrpSpPr>
        <p:grpSpPr>
          <a:xfrm>
            <a:off x="987552" y="2062734"/>
            <a:ext cx="3648456" cy="1837944"/>
            <a:chOff x="1582166" y="2057400"/>
            <a:chExt cx="3648456" cy="1837944"/>
          </a:xfrm>
        </p:grpSpPr>
        <p:sp>
          <p:nvSpPr>
            <p:cNvPr id="11" name="Text 9"/>
            <p:cNvSpPr/>
            <p:nvPr/>
          </p:nvSpPr>
          <p:spPr>
            <a:xfrm>
              <a:off x="1600454" y="2057400"/>
              <a:ext cx="1828800" cy="201168"/>
            </a:xfrm>
            <a:prstGeom prst="rect">
              <a:avLst/>
            </a:prstGeom>
            <a:noFill/>
          </p:spPr>
          <p:txBody>
            <a:bodyPr wrap="square" lIns="0" tIns="0" rIns="0" bIns="0" rtlCol="0" anchor="ctr"/>
            <a:lstStyle/>
            <a:p>
              <a:pPr marL="0" indent="0">
                <a:buNone/>
              </a:pPr>
              <a:r>
                <a:rPr lang="en-US" sz="1250" b="1" dirty="0">
                  <a:solidFill>
                    <a:srgbClr val="1F2937"/>
                  </a:solidFill>
                </a:rPr>
                <a:t>Variable</a:t>
              </a:r>
              <a:endParaRPr lang="en-US" sz="1250" dirty="0"/>
            </a:p>
          </p:txBody>
        </p:sp>
        <p:sp>
          <p:nvSpPr>
            <p:cNvPr id="12" name="Text 10"/>
            <p:cNvSpPr/>
            <p:nvPr/>
          </p:nvSpPr>
          <p:spPr>
            <a:xfrm>
              <a:off x="3429254" y="2057400"/>
              <a:ext cx="914400" cy="201168"/>
            </a:xfrm>
            <a:prstGeom prst="rect">
              <a:avLst/>
            </a:prstGeom>
            <a:noFill/>
          </p:spPr>
          <p:txBody>
            <a:bodyPr wrap="square" lIns="0" tIns="0" rIns="0" bIns="0" rtlCol="0" anchor="ctr"/>
            <a:lstStyle/>
            <a:p>
              <a:pPr marL="0" indent="0" algn="ctr">
                <a:buNone/>
              </a:pPr>
              <a:r>
                <a:rPr lang="en-US" sz="1250" b="1" dirty="0">
                  <a:solidFill>
                    <a:srgbClr val="1F2937"/>
                  </a:solidFill>
                </a:rPr>
                <a:t>p value</a:t>
              </a:r>
              <a:endParaRPr lang="en-US" sz="1250" dirty="0"/>
            </a:p>
          </p:txBody>
        </p:sp>
        <p:sp>
          <p:nvSpPr>
            <p:cNvPr id="13" name="Text 11"/>
            <p:cNvSpPr/>
            <p:nvPr/>
          </p:nvSpPr>
          <p:spPr>
            <a:xfrm>
              <a:off x="4343654" y="2057400"/>
              <a:ext cx="868680" cy="201168"/>
            </a:xfrm>
            <a:prstGeom prst="rect">
              <a:avLst/>
            </a:prstGeom>
            <a:noFill/>
          </p:spPr>
          <p:txBody>
            <a:bodyPr wrap="square" lIns="0" tIns="0" rIns="0" bIns="0" rtlCol="0" anchor="ctr"/>
            <a:lstStyle/>
            <a:p>
              <a:pPr marL="0" indent="0" algn="ctr">
                <a:buNone/>
              </a:pPr>
              <a:r>
                <a:rPr lang="en-US" sz="1250" b="1" dirty="0">
                  <a:solidFill>
                    <a:srgbClr val="1F2937"/>
                  </a:solidFill>
                </a:rPr>
                <a:t>Decision</a:t>
              </a:r>
              <a:endParaRPr lang="en-US" sz="1250" dirty="0"/>
            </a:p>
          </p:txBody>
        </p:sp>
        <p:sp>
          <p:nvSpPr>
            <p:cNvPr id="14" name="Shape 12"/>
            <p:cNvSpPr/>
            <p:nvPr/>
          </p:nvSpPr>
          <p:spPr>
            <a:xfrm>
              <a:off x="1582166" y="2304288"/>
              <a:ext cx="3648456" cy="384048"/>
            </a:xfrm>
            <a:prstGeom prst="rect">
              <a:avLst/>
            </a:prstGeom>
            <a:solidFill>
              <a:srgbClr val="FFFFFF"/>
            </a:solidFill>
            <a:ln w="12700">
              <a:solidFill>
                <a:srgbClr val="D9D9D6"/>
              </a:solidFill>
              <a:prstDash val="solid"/>
            </a:ln>
          </p:spPr>
          <p:txBody>
            <a:bodyPr/>
            <a:lstStyle/>
            <a:p>
              <a:endParaRPr lang="zh-CN" altLang="en-US"/>
            </a:p>
          </p:txBody>
        </p:sp>
        <p:sp>
          <p:nvSpPr>
            <p:cNvPr id="15" name="Text 13"/>
            <p:cNvSpPr/>
            <p:nvPr/>
          </p:nvSpPr>
          <p:spPr>
            <a:xfrm>
              <a:off x="1646174" y="2377440"/>
              <a:ext cx="1737360" cy="146304"/>
            </a:xfrm>
            <a:prstGeom prst="rect">
              <a:avLst/>
            </a:prstGeom>
            <a:noFill/>
          </p:spPr>
          <p:txBody>
            <a:bodyPr wrap="square" lIns="0" tIns="0" rIns="0" bIns="0" rtlCol="0" anchor="ctr"/>
            <a:lstStyle/>
            <a:p>
              <a:pPr marL="0" indent="0">
                <a:buNone/>
              </a:pPr>
              <a:r>
                <a:rPr lang="en-US" sz="1200" dirty="0">
                  <a:solidFill>
                    <a:srgbClr val="1F2937"/>
                  </a:solidFill>
                </a:rPr>
                <a:t>year</a:t>
              </a:r>
              <a:endParaRPr lang="en-US" sz="1200" dirty="0"/>
            </a:p>
          </p:txBody>
        </p:sp>
        <p:sp>
          <p:nvSpPr>
            <p:cNvPr id="16" name="Text 14"/>
            <p:cNvSpPr/>
            <p:nvPr/>
          </p:nvSpPr>
          <p:spPr>
            <a:xfrm>
              <a:off x="3429254" y="2377440"/>
              <a:ext cx="914400" cy="146304"/>
            </a:xfrm>
            <a:prstGeom prst="rect">
              <a:avLst/>
            </a:prstGeom>
            <a:noFill/>
          </p:spPr>
          <p:txBody>
            <a:bodyPr wrap="square" lIns="0" tIns="0" rIns="0" bIns="0" rtlCol="0" anchor="ctr"/>
            <a:lstStyle/>
            <a:p>
              <a:pPr marL="0" indent="0" algn="ctr">
                <a:buNone/>
              </a:pPr>
              <a:r>
                <a:rPr lang="en-US" sz="1200" dirty="0">
                  <a:solidFill>
                    <a:srgbClr val="1F2937"/>
                  </a:solidFill>
                </a:rPr>
                <a:t>0.001</a:t>
              </a:r>
              <a:endParaRPr lang="en-US" sz="1200" dirty="0"/>
            </a:p>
          </p:txBody>
        </p:sp>
        <p:sp>
          <p:nvSpPr>
            <p:cNvPr id="17" name="Text 15"/>
            <p:cNvSpPr/>
            <p:nvPr/>
          </p:nvSpPr>
          <p:spPr>
            <a:xfrm>
              <a:off x="4343654" y="2377440"/>
              <a:ext cx="868680" cy="146304"/>
            </a:xfrm>
            <a:prstGeom prst="rect">
              <a:avLst/>
            </a:prstGeom>
            <a:noFill/>
          </p:spPr>
          <p:txBody>
            <a:bodyPr wrap="square" lIns="0" tIns="0" rIns="0" bIns="0" rtlCol="0" anchor="ctr"/>
            <a:lstStyle/>
            <a:p>
              <a:pPr marL="0" indent="0" algn="ctr">
                <a:buNone/>
              </a:pPr>
              <a:r>
                <a:rPr lang="en-US" sz="1200" b="1" dirty="0">
                  <a:solidFill>
                    <a:srgbClr val="2E7D32"/>
                  </a:solidFill>
                </a:rPr>
                <a:t>keep</a:t>
              </a:r>
              <a:endParaRPr lang="en-US" sz="1200" dirty="0"/>
            </a:p>
          </p:txBody>
        </p:sp>
        <p:sp>
          <p:nvSpPr>
            <p:cNvPr id="18" name="Shape 16"/>
            <p:cNvSpPr/>
            <p:nvPr/>
          </p:nvSpPr>
          <p:spPr>
            <a:xfrm>
              <a:off x="1582166" y="2706624"/>
              <a:ext cx="3648456" cy="384048"/>
            </a:xfrm>
            <a:prstGeom prst="rect">
              <a:avLst/>
            </a:prstGeom>
            <a:solidFill>
              <a:srgbClr val="F8FAFC"/>
            </a:solidFill>
            <a:ln w="12700">
              <a:solidFill>
                <a:srgbClr val="D9D9D6"/>
              </a:solidFill>
              <a:prstDash val="solid"/>
            </a:ln>
          </p:spPr>
          <p:txBody>
            <a:bodyPr/>
            <a:lstStyle/>
            <a:p>
              <a:endParaRPr lang="zh-CN" altLang="en-US"/>
            </a:p>
          </p:txBody>
        </p:sp>
        <p:sp>
          <p:nvSpPr>
            <p:cNvPr id="19" name="Text 17"/>
            <p:cNvSpPr/>
            <p:nvPr/>
          </p:nvSpPr>
          <p:spPr>
            <a:xfrm>
              <a:off x="1646174" y="2779776"/>
              <a:ext cx="1737360" cy="146304"/>
            </a:xfrm>
            <a:prstGeom prst="rect">
              <a:avLst/>
            </a:prstGeom>
            <a:noFill/>
          </p:spPr>
          <p:txBody>
            <a:bodyPr wrap="square" lIns="0" tIns="0" rIns="0" bIns="0" rtlCol="0" anchor="ctr"/>
            <a:lstStyle/>
            <a:p>
              <a:pPr marL="0" indent="0">
                <a:buNone/>
              </a:pPr>
              <a:r>
                <a:rPr lang="en-US" sz="1200" dirty="0">
                  <a:solidFill>
                    <a:srgbClr val="1F2937"/>
                  </a:solidFill>
                </a:rPr>
                <a:t>length</a:t>
              </a:r>
              <a:endParaRPr lang="en-US" sz="1200" dirty="0"/>
            </a:p>
          </p:txBody>
        </p:sp>
        <p:sp>
          <p:nvSpPr>
            <p:cNvPr id="20" name="Text 18"/>
            <p:cNvSpPr/>
            <p:nvPr/>
          </p:nvSpPr>
          <p:spPr>
            <a:xfrm>
              <a:off x="3429254" y="2779776"/>
              <a:ext cx="914400" cy="146304"/>
            </a:xfrm>
            <a:prstGeom prst="rect">
              <a:avLst/>
            </a:prstGeom>
            <a:noFill/>
          </p:spPr>
          <p:txBody>
            <a:bodyPr wrap="square" lIns="0" tIns="0" rIns="0" bIns="0" rtlCol="0" anchor="ctr"/>
            <a:lstStyle/>
            <a:p>
              <a:pPr marL="0" indent="0" algn="ctr">
                <a:buNone/>
              </a:pPr>
              <a:r>
                <a:rPr lang="en-US" sz="1200" dirty="0">
                  <a:solidFill>
                    <a:srgbClr val="1F2937"/>
                  </a:solidFill>
                </a:rPr>
                <a:t>&lt;0.001</a:t>
              </a:r>
              <a:endParaRPr lang="en-US" sz="1200" dirty="0"/>
            </a:p>
          </p:txBody>
        </p:sp>
        <p:sp>
          <p:nvSpPr>
            <p:cNvPr id="21" name="Text 19"/>
            <p:cNvSpPr/>
            <p:nvPr/>
          </p:nvSpPr>
          <p:spPr>
            <a:xfrm>
              <a:off x="4343654" y="2779776"/>
              <a:ext cx="868680" cy="146304"/>
            </a:xfrm>
            <a:prstGeom prst="rect">
              <a:avLst/>
            </a:prstGeom>
            <a:noFill/>
          </p:spPr>
          <p:txBody>
            <a:bodyPr wrap="square" lIns="0" tIns="0" rIns="0" bIns="0" rtlCol="0" anchor="ctr"/>
            <a:lstStyle/>
            <a:p>
              <a:pPr marL="0" indent="0" algn="ctr">
                <a:buNone/>
              </a:pPr>
              <a:r>
                <a:rPr lang="en-US" sz="1200" b="1" dirty="0">
                  <a:solidFill>
                    <a:srgbClr val="2E7D32"/>
                  </a:solidFill>
                </a:rPr>
                <a:t>keep</a:t>
              </a:r>
              <a:endParaRPr lang="en-US" sz="1200" dirty="0"/>
            </a:p>
          </p:txBody>
        </p:sp>
        <p:sp>
          <p:nvSpPr>
            <p:cNvPr id="22" name="Shape 20"/>
            <p:cNvSpPr/>
            <p:nvPr/>
          </p:nvSpPr>
          <p:spPr>
            <a:xfrm>
              <a:off x="1582166" y="3108960"/>
              <a:ext cx="3648456" cy="384048"/>
            </a:xfrm>
            <a:prstGeom prst="rect">
              <a:avLst/>
            </a:prstGeom>
            <a:solidFill>
              <a:srgbClr val="FFFFFF"/>
            </a:solidFill>
            <a:ln w="12700">
              <a:solidFill>
                <a:srgbClr val="D9D9D6"/>
              </a:solidFill>
              <a:prstDash val="solid"/>
            </a:ln>
          </p:spPr>
          <p:txBody>
            <a:bodyPr/>
            <a:lstStyle/>
            <a:p>
              <a:endParaRPr lang="zh-CN" altLang="en-US"/>
            </a:p>
          </p:txBody>
        </p:sp>
        <p:sp>
          <p:nvSpPr>
            <p:cNvPr id="23" name="Text 21"/>
            <p:cNvSpPr/>
            <p:nvPr/>
          </p:nvSpPr>
          <p:spPr>
            <a:xfrm>
              <a:off x="1646174" y="3182112"/>
              <a:ext cx="1737360" cy="146304"/>
            </a:xfrm>
            <a:prstGeom prst="rect">
              <a:avLst/>
            </a:prstGeom>
            <a:noFill/>
          </p:spPr>
          <p:txBody>
            <a:bodyPr wrap="square" lIns="0" tIns="0" rIns="0" bIns="0" rtlCol="0" anchor="ctr"/>
            <a:lstStyle/>
            <a:p>
              <a:pPr marL="0" indent="0">
                <a:buNone/>
              </a:pPr>
              <a:r>
                <a:rPr lang="en-US" sz="1200" dirty="0">
                  <a:solidFill>
                    <a:srgbClr val="1F2937"/>
                  </a:solidFill>
                </a:rPr>
                <a:t>budget</a:t>
              </a:r>
              <a:endParaRPr lang="en-US" sz="1200" dirty="0"/>
            </a:p>
          </p:txBody>
        </p:sp>
        <p:sp>
          <p:nvSpPr>
            <p:cNvPr id="24" name="Text 22"/>
            <p:cNvSpPr/>
            <p:nvPr/>
          </p:nvSpPr>
          <p:spPr>
            <a:xfrm>
              <a:off x="3429254" y="3182112"/>
              <a:ext cx="914400" cy="146304"/>
            </a:xfrm>
            <a:prstGeom prst="rect">
              <a:avLst/>
            </a:prstGeom>
            <a:noFill/>
          </p:spPr>
          <p:txBody>
            <a:bodyPr wrap="square" lIns="0" tIns="0" rIns="0" bIns="0" rtlCol="0" anchor="ctr"/>
            <a:lstStyle/>
            <a:p>
              <a:pPr marL="0" indent="0" algn="ctr">
                <a:buNone/>
              </a:pPr>
              <a:r>
                <a:rPr lang="en-US" sz="1200" dirty="0">
                  <a:solidFill>
                    <a:srgbClr val="1F2937"/>
                  </a:solidFill>
                </a:rPr>
                <a:t>&lt;0.001</a:t>
              </a:r>
              <a:endParaRPr lang="en-US" sz="1200" dirty="0"/>
            </a:p>
          </p:txBody>
        </p:sp>
        <p:sp>
          <p:nvSpPr>
            <p:cNvPr id="25" name="Text 23"/>
            <p:cNvSpPr/>
            <p:nvPr/>
          </p:nvSpPr>
          <p:spPr>
            <a:xfrm>
              <a:off x="4343654" y="3182112"/>
              <a:ext cx="868680" cy="146304"/>
            </a:xfrm>
            <a:prstGeom prst="rect">
              <a:avLst/>
            </a:prstGeom>
            <a:noFill/>
          </p:spPr>
          <p:txBody>
            <a:bodyPr wrap="square" lIns="0" tIns="0" rIns="0" bIns="0" rtlCol="0" anchor="ctr"/>
            <a:lstStyle/>
            <a:p>
              <a:pPr marL="0" indent="0" algn="ctr">
                <a:buNone/>
              </a:pPr>
              <a:r>
                <a:rPr lang="en-US" sz="1200" b="1" dirty="0">
                  <a:solidFill>
                    <a:srgbClr val="2E7D32"/>
                  </a:solidFill>
                </a:rPr>
                <a:t>keep</a:t>
              </a:r>
              <a:endParaRPr lang="en-US" sz="1200" dirty="0"/>
            </a:p>
          </p:txBody>
        </p:sp>
        <p:sp>
          <p:nvSpPr>
            <p:cNvPr id="26" name="Shape 24"/>
            <p:cNvSpPr/>
            <p:nvPr/>
          </p:nvSpPr>
          <p:spPr>
            <a:xfrm>
              <a:off x="1582166" y="3511296"/>
              <a:ext cx="3648456" cy="384048"/>
            </a:xfrm>
            <a:prstGeom prst="rect">
              <a:avLst/>
            </a:prstGeom>
            <a:solidFill>
              <a:srgbClr val="F8FAFC"/>
            </a:solidFill>
            <a:ln w="12700">
              <a:solidFill>
                <a:srgbClr val="D9D9D6"/>
              </a:solidFill>
              <a:prstDash val="solid"/>
            </a:ln>
          </p:spPr>
          <p:txBody>
            <a:bodyPr/>
            <a:lstStyle/>
            <a:p>
              <a:endParaRPr lang="zh-CN" altLang="en-US"/>
            </a:p>
          </p:txBody>
        </p:sp>
        <p:sp>
          <p:nvSpPr>
            <p:cNvPr id="27" name="Text 25"/>
            <p:cNvSpPr/>
            <p:nvPr/>
          </p:nvSpPr>
          <p:spPr>
            <a:xfrm>
              <a:off x="1646174" y="3584448"/>
              <a:ext cx="1737360" cy="146304"/>
            </a:xfrm>
            <a:prstGeom prst="rect">
              <a:avLst/>
            </a:prstGeom>
            <a:noFill/>
          </p:spPr>
          <p:txBody>
            <a:bodyPr wrap="square" lIns="0" tIns="0" rIns="0" bIns="0" rtlCol="0" anchor="ctr"/>
            <a:lstStyle/>
            <a:p>
              <a:pPr marL="0" indent="0">
                <a:buNone/>
              </a:pPr>
              <a:r>
                <a:rPr lang="en-US" sz="1200" dirty="0">
                  <a:solidFill>
                    <a:srgbClr val="1F2937"/>
                  </a:solidFill>
                </a:rPr>
                <a:t>votes</a:t>
              </a:r>
              <a:endParaRPr lang="en-US" sz="1200" dirty="0"/>
            </a:p>
          </p:txBody>
        </p:sp>
        <p:sp>
          <p:nvSpPr>
            <p:cNvPr id="28" name="Text 26"/>
            <p:cNvSpPr/>
            <p:nvPr/>
          </p:nvSpPr>
          <p:spPr>
            <a:xfrm>
              <a:off x="3429254" y="3584448"/>
              <a:ext cx="914400" cy="146304"/>
            </a:xfrm>
            <a:prstGeom prst="rect">
              <a:avLst/>
            </a:prstGeom>
            <a:noFill/>
          </p:spPr>
          <p:txBody>
            <a:bodyPr wrap="square" lIns="0" tIns="0" rIns="0" bIns="0" rtlCol="0" anchor="ctr"/>
            <a:lstStyle/>
            <a:p>
              <a:pPr marL="0" indent="0" algn="ctr">
                <a:buNone/>
              </a:pPr>
              <a:r>
                <a:rPr lang="en-US" sz="1200" dirty="0">
                  <a:solidFill>
                    <a:srgbClr val="1F2937"/>
                  </a:solidFill>
                </a:rPr>
                <a:t>0.612</a:t>
              </a:r>
              <a:endParaRPr lang="en-US" sz="1200" dirty="0"/>
            </a:p>
          </p:txBody>
        </p:sp>
        <p:sp>
          <p:nvSpPr>
            <p:cNvPr id="29" name="Text 27"/>
            <p:cNvSpPr/>
            <p:nvPr/>
          </p:nvSpPr>
          <p:spPr>
            <a:xfrm>
              <a:off x="4343654" y="3584448"/>
              <a:ext cx="868680" cy="146304"/>
            </a:xfrm>
            <a:prstGeom prst="rect">
              <a:avLst/>
            </a:prstGeom>
            <a:noFill/>
          </p:spPr>
          <p:txBody>
            <a:bodyPr wrap="square" lIns="0" tIns="0" rIns="0" bIns="0" rtlCol="0" anchor="ctr"/>
            <a:lstStyle/>
            <a:p>
              <a:pPr marL="0" indent="0" algn="ctr">
                <a:buNone/>
              </a:pPr>
              <a:r>
                <a:rPr lang="en-US" sz="1200" b="1" dirty="0">
                  <a:solidFill>
                    <a:srgbClr val="C0392B"/>
                  </a:solidFill>
                </a:rPr>
                <a:t>remove</a:t>
              </a:r>
              <a:endParaRPr lang="en-US" sz="1200" dirty="0"/>
            </a:p>
          </p:txBody>
        </p:sp>
      </p:grpSp>
      <p:grpSp>
        <p:nvGrpSpPr>
          <p:cNvPr id="44" name="组合 43"/>
          <p:cNvGrpSpPr/>
          <p:nvPr/>
        </p:nvGrpSpPr>
        <p:grpSpPr>
          <a:xfrm>
            <a:off x="6093460" y="2282117"/>
            <a:ext cx="4800600" cy="1627778"/>
            <a:chOff x="6096000" y="2108351"/>
            <a:chExt cx="4800600" cy="1627778"/>
          </a:xfrm>
        </p:grpSpPr>
        <p:sp>
          <p:nvSpPr>
            <p:cNvPr id="30" name="Shape 28"/>
            <p:cNvSpPr/>
            <p:nvPr/>
          </p:nvSpPr>
          <p:spPr>
            <a:xfrm>
              <a:off x="6096000" y="2108351"/>
              <a:ext cx="4800600" cy="1600243"/>
            </a:xfrm>
            <a:prstGeom prst="roundRect">
              <a:avLst>
                <a:gd name="adj" fmla="val 2198"/>
              </a:avLst>
            </a:prstGeom>
            <a:solidFill>
              <a:srgbClr val="FFFFFF"/>
            </a:solidFill>
            <a:ln w="12700">
              <a:solidFill>
                <a:srgbClr val="D6DCE5"/>
              </a:solidFill>
              <a:prstDash val="solid"/>
            </a:ln>
          </p:spPr>
          <p:txBody>
            <a:bodyPr/>
            <a:lstStyle/>
            <a:p>
              <a:endParaRPr lang="zh-CN" altLang="en-US"/>
            </a:p>
          </p:txBody>
        </p:sp>
        <p:sp>
          <p:nvSpPr>
            <p:cNvPr id="31" name="Text 29"/>
            <p:cNvSpPr/>
            <p:nvPr/>
          </p:nvSpPr>
          <p:spPr>
            <a:xfrm>
              <a:off x="6327775" y="2266188"/>
              <a:ext cx="1828800" cy="201168"/>
            </a:xfrm>
            <a:prstGeom prst="rect">
              <a:avLst/>
            </a:prstGeom>
            <a:noFill/>
          </p:spPr>
          <p:txBody>
            <a:bodyPr wrap="square" lIns="0" tIns="0" rIns="0" bIns="0" rtlCol="0" anchor="ctr"/>
            <a:lstStyle/>
            <a:p>
              <a:pPr marL="0" indent="0">
                <a:buNone/>
              </a:pPr>
              <a:r>
                <a:rPr lang="en-US" sz="1350" b="1" dirty="0">
                  <a:solidFill>
                    <a:srgbClr val="2F5EA8"/>
                  </a:solidFill>
                </a:rPr>
                <a:t>Main modelling result</a:t>
              </a:r>
              <a:endParaRPr lang="en-US" sz="1350" dirty="0"/>
            </a:p>
          </p:txBody>
        </p:sp>
        <p:sp>
          <p:nvSpPr>
            <p:cNvPr id="32" name="Text 30"/>
            <p:cNvSpPr/>
            <p:nvPr/>
          </p:nvSpPr>
          <p:spPr>
            <a:xfrm>
              <a:off x="6327774" y="2401105"/>
              <a:ext cx="4495165" cy="1335024"/>
            </a:xfrm>
            <a:prstGeom prst="rect">
              <a:avLst/>
            </a:prstGeom>
            <a:noFill/>
          </p:spPr>
          <p:txBody>
            <a:bodyPr wrap="square" lIns="254" tIns="254" rIns="254" bIns="254" rtlCol="0" anchor="ctr"/>
            <a:lstStyle/>
            <a:p>
              <a:pPr marL="203200" indent="-203200">
                <a:buSzPct val="100000"/>
                <a:buChar char="•"/>
              </a:pPr>
              <a:r>
                <a:rPr lang="en-US" sz="1330" dirty="0">
                  <a:solidFill>
                    <a:srgbClr val="1F2937"/>
                  </a:solidFill>
                </a:rPr>
                <a:t>Votes was not statistically significant.</a:t>
              </a:r>
              <a:endParaRPr lang="en-US" sz="1330" dirty="0"/>
            </a:p>
            <a:p>
              <a:pPr marL="203200" indent="-203200">
                <a:buSzPct val="100000"/>
                <a:buChar char="•"/>
              </a:pPr>
              <a:r>
                <a:rPr lang="en-US" sz="1330" dirty="0">
                  <a:solidFill>
                    <a:srgbClr val="1F2937"/>
                  </a:solidFill>
                </a:rPr>
                <a:t>Year, length, budget, and several genre effects stayed significant.</a:t>
              </a:r>
              <a:endParaRPr lang="en-US" sz="1330" dirty="0"/>
            </a:p>
            <a:p>
              <a:pPr marL="203200" indent="-203200">
                <a:buSzPct val="100000"/>
                <a:buChar char="•"/>
              </a:pPr>
              <a:r>
                <a:rPr lang="en-US" sz="1330" dirty="0">
                  <a:solidFill>
                    <a:srgbClr val="1F2937"/>
                  </a:solidFill>
                </a:rPr>
                <a:t>The model identifies key drivers influencing a high IMDB rating.</a:t>
              </a:r>
              <a:endParaRPr lang="en-US" sz="1330" dirty="0"/>
            </a:p>
          </p:txBody>
        </p:sp>
      </p:grpSp>
      <p:grpSp>
        <p:nvGrpSpPr>
          <p:cNvPr id="40" name="组合 39"/>
          <p:cNvGrpSpPr/>
          <p:nvPr/>
        </p:nvGrpSpPr>
        <p:grpSpPr>
          <a:xfrm>
            <a:off x="625348" y="4162092"/>
            <a:ext cx="10268712" cy="548640"/>
            <a:chOff x="685800" y="4403598"/>
            <a:chExt cx="10268712" cy="548640"/>
          </a:xfrm>
        </p:grpSpPr>
        <p:sp>
          <p:nvSpPr>
            <p:cNvPr id="33" name="Shape 31"/>
            <p:cNvSpPr/>
            <p:nvPr/>
          </p:nvSpPr>
          <p:spPr>
            <a:xfrm>
              <a:off x="685800" y="4403598"/>
              <a:ext cx="10268712" cy="548640"/>
            </a:xfrm>
            <a:prstGeom prst="roundRect">
              <a:avLst>
                <a:gd name="adj" fmla="val 5000"/>
              </a:avLst>
            </a:prstGeom>
            <a:solidFill>
              <a:srgbClr val="FCFCFB"/>
            </a:solidFill>
            <a:ln w="12700">
              <a:solidFill>
                <a:srgbClr val="E1E5EB"/>
              </a:solidFill>
              <a:prstDash val="solid"/>
            </a:ln>
          </p:spPr>
          <p:txBody>
            <a:bodyPr/>
            <a:lstStyle/>
            <a:p>
              <a:endParaRPr lang="zh-CN" altLang="en-US"/>
            </a:p>
          </p:txBody>
        </p:sp>
        <p:sp>
          <p:nvSpPr>
            <p:cNvPr id="34" name="Text 32"/>
            <p:cNvSpPr/>
            <p:nvPr/>
          </p:nvSpPr>
          <p:spPr>
            <a:xfrm>
              <a:off x="923925" y="4576953"/>
              <a:ext cx="9784080" cy="182880"/>
            </a:xfrm>
            <a:prstGeom prst="rect">
              <a:avLst/>
            </a:prstGeom>
            <a:noFill/>
          </p:spPr>
          <p:txBody>
            <a:bodyPr wrap="square" lIns="0" tIns="0" rIns="0" bIns="0" rtlCol="0" anchor="ctr"/>
            <a:lstStyle/>
            <a:p>
              <a:pPr marL="0" indent="0" algn="ctr">
                <a:buNone/>
              </a:pPr>
              <a:r>
                <a:rPr lang="en-US" sz="1600" b="1" dirty="0">
                  <a:solidFill>
                    <a:srgbClr val="1F2937"/>
                  </a:solidFill>
                </a:rPr>
                <a:t>Final model : </a:t>
              </a:r>
              <a:r>
                <a:rPr lang="en-US" sz="1600" b="1" dirty="0" err="1">
                  <a:solidFill>
                    <a:srgbClr val="1F2937"/>
                  </a:solidFill>
                </a:rPr>
                <a:t>high_rating</a:t>
              </a:r>
              <a:r>
                <a:rPr lang="en-US" sz="1600" b="1" dirty="0">
                  <a:solidFill>
                    <a:srgbClr val="1F2937"/>
                  </a:solidFill>
                </a:rPr>
                <a:t> ~ year + length + budget + genre</a:t>
              </a:r>
              <a:endParaRPr lang="en-US" sz="1600" dirty="0"/>
            </a:p>
          </p:txBody>
        </p:sp>
      </p:grpSp>
      <p:sp>
        <p:nvSpPr>
          <p:cNvPr id="35" name="Slide Number Placeholder 0"/>
          <p:cNvSpPr>
            <a:spLocks noGrp="1"/>
          </p:cNvSpPr>
          <p:nvPr>
            <p:ph type="sldNum" sz="quarter" idx="4294967295"/>
          </p:nvPr>
        </p:nvSpPr>
        <p:spPr>
          <a:xfrm>
            <a:off x="502920" y="6446520"/>
            <a:ext cx="365760" cy="182880"/>
          </a:xfrm>
          <a:prstGeom prst="rect">
            <a:avLst/>
          </a:prstGeom>
        </p:spPr>
        <p:txBody>
          <a:bodyPr/>
          <a:lstStyle>
            <a:lvl1pPr>
              <a:defRPr sz="800">
                <a:solidFill>
                  <a:srgbClr val="9A9A9A"/>
                </a:solidFill>
              </a:defRPr>
            </a:lvl1pPr>
          </a:lstStyle>
          <a:p>
            <a:pPr algn="l"/>
            <a:fld id="{F7021451-1387-4CA6-816F-3879F97B5CBC}" type="slidenum">
              <a:rPr lang="en-US" b="0"/>
              <a:t>5</a:t>
            </a:fld>
            <a:endParaRPr lang="en-US"/>
          </a:p>
        </p:txBody>
      </p:sp>
      <p:grpSp>
        <p:nvGrpSpPr>
          <p:cNvPr id="43" name="组合 42"/>
          <p:cNvGrpSpPr/>
          <p:nvPr/>
        </p:nvGrpSpPr>
        <p:grpSpPr>
          <a:xfrm>
            <a:off x="768604" y="4977480"/>
            <a:ext cx="10185908" cy="1260024"/>
            <a:chOff x="768604" y="5246441"/>
            <a:chExt cx="10185908" cy="1260024"/>
          </a:xfrm>
        </p:grpSpPr>
        <p:sp>
          <p:nvSpPr>
            <p:cNvPr id="5" name="文本框 4"/>
            <p:cNvSpPr txBox="1"/>
            <p:nvPr/>
          </p:nvSpPr>
          <p:spPr>
            <a:xfrm>
              <a:off x="768604" y="5338524"/>
              <a:ext cx="2902331" cy="1107996"/>
            </a:xfrm>
            <a:prstGeom prst="rect">
              <a:avLst/>
            </a:prstGeom>
            <a:noFill/>
          </p:spPr>
          <p:txBody>
            <a:bodyPr wrap="square" rtlCol="0">
              <a:spAutoFit/>
            </a:bodyPr>
            <a:lstStyle/>
            <a:p>
              <a:r>
                <a:rPr lang="en-US" altLang="zh-CN" sz="1320" dirty="0">
                  <a:solidFill>
                    <a:srgbClr val="1F2937"/>
                  </a:solidFill>
                </a:rPr>
                <a:t>The reduced model achieved a </a:t>
              </a:r>
              <a:r>
                <a:rPr lang="en-US" altLang="zh-CN" sz="1320" b="1" dirty="0">
                  <a:solidFill>
                    <a:srgbClr val="1F2937"/>
                  </a:solidFill>
                </a:rPr>
                <a:t>lower</a:t>
              </a:r>
              <a:r>
                <a:rPr lang="en-US" altLang="zh-CN" sz="1320" dirty="0">
                  <a:solidFill>
                    <a:srgbClr val="1F2937"/>
                  </a:solidFill>
                </a:rPr>
                <a:t> </a:t>
              </a:r>
              <a:r>
                <a:rPr lang="en-US" altLang="zh-CN" sz="1320" b="1" dirty="0">
                  <a:solidFill>
                    <a:srgbClr val="1F2937"/>
                  </a:solidFill>
                </a:rPr>
                <a:t>AIC</a:t>
              </a:r>
              <a:r>
                <a:rPr lang="en-US" altLang="zh-CN" sz="1320" dirty="0">
                  <a:solidFill>
                    <a:srgbClr val="1F2937"/>
                  </a:solidFill>
                </a:rPr>
                <a:t> with </a:t>
              </a:r>
              <a:r>
                <a:rPr lang="en-US" altLang="zh-CN" sz="1320" b="1" dirty="0">
                  <a:solidFill>
                    <a:srgbClr val="1F2937"/>
                  </a:solidFill>
                </a:rPr>
                <a:t>minimal changes </a:t>
              </a:r>
              <a:r>
                <a:rPr lang="en-US" altLang="zh-CN" sz="1320" dirty="0">
                  <a:solidFill>
                    <a:srgbClr val="1F2937"/>
                  </a:solidFill>
                </a:rPr>
                <a:t>on </a:t>
              </a:r>
              <a:r>
                <a:rPr lang="en-US" altLang="zh-CN" sz="1320" b="1" dirty="0">
                  <a:solidFill>
                    <a:srgbClr val="1F2937"/>
                  </a:solidFill>
                </a:rPr>
                <a:t>deviance</a:t>
              </a:r>
              <a:r>
                <a:rPr lang="en-US" altLang="zh-CN" sz="1320" dirty="0">
                  <a:solidFill>
                    <a:srgbClr val="1F2937"/>
                  </a:solidFill>
                </a:rPr>
                <a:t>, providing a better balance between </a:t>
              </a:r>
              <a:r>
                <a:rPr lang="en-US" altLang="zh-CN" sz="1320" b="1" dirty="0">
                  <a:solidFill>
                    <a:srgbClr val="1F2937"/>
                  </a:solidFill>
                </a:rPr>
                <a:t>model fit </a:t>
              </a:r>
              <a:r>
                <a:rPr lang="en-US" altLang="zh-CN" sz="1320" dirty="0">
                  <a:solidFill>
                    <a:srgbClr val="1F2937"/>
                  </a:solidFill>
                </a:rPr>
                <a:t>and </a:t>
              </a:r>
              <a:r>
                <a:rPr lang="en-US" altLang="zh-CN" sz="1320" b="1" dirty="0">
                  <a:solidFill>
                    <a:srgbClr val="1F2937"/>
                  </a:solidFill>
                </a:rPr>
                <a:t>simplicity</a:t>
              </a:r>
              <a:r>
                <a:rPr lang="en-US" altLang="zh-CN" sz="1320" dirty="0">
                  <a:solidFill>
                    <a:srgbClr val="1F2937"/>
                  </a:solidFill>
                </a:rPr>
                <a:t> while retaining full explanatory power.</a:t>
              </a:r>
            </a:p>
          </p:txBody>
        </p:sp>
        <p:pic>
          <p:nvPicPr>
            <p:cNvPr id="39" name="图片 38"/>
            <p:cNvPicPr>
              <a:picLocks noChangeAspect="1"/>
            </p:cNvPicPr>
            <p:nvPr/>
          </p:nvPicPr>
          <p:blipFill>
            <a:blip r:embed="rId3"/>
            <a:stretch>
              <a:fillRect/>
            </a:stretch>
          </p:blipFill>
          <p:spPr>
            <a:xfrm>
              <a:off x="4572000" y="5246441"/>
              <a:ext cx="6382512" cy="1260024"/>
            </a:xfrm>
            <a:prstGeom prst="rect">
              <a:avLst/>
            </a:prstGeom>
          </p:spPr>
        </p:pic>
      </p:grpSp>
      <p:sp>
        <p:nvSpPr>
          <p:cNvPr id="41" name="文本框 40"/>
          <p:cNvSpPr txBox="1"/>
          <p:nvPr/>
        </p:nvSpPr>
        <p:spPr>
          <a:xfrm>
            <a:off x="5323840" y="6378388"/>
            <a:ext cx="5760720" cy="261610"/>
          </a:xfrm>
          <a:prstGeom prst="rect">
            <a:avLst/>
          </a:prstGeom>
          <a:noFill/>
        </p:spPr>
        <p:txBody>
          <a:bodyPr wrap="square" rtlCol="0">
            <a:spAutoFit/>
          </a:bodyPr>
          <a:lstStyle/>
          <a:p>
            <a:r>
              <a:rPr lang="en-US" altLang="zh-CN" sz="1100" dirty="0">
                <a:solidFill>
                  <a:srgbClr val="1F2937"/>
                </a:solidFill>
              </a:rPr>
              <a:t>Note: '</a:t>
            </a:r>
            <a:r>
              <a:rPr lang="en-US" altLang="zh-CN" sz="1100" dirty="0" err="1">
                <a:solidFill>
                  <a:srgbClr val="1F2937"/>
                </a:solidFill>
              </a:rPr>
              <a:t>high_rating</a:t>
            </a:r>
            <a:r>
              <a:rPr lang="en-US" altLang="zh-CN" sz="1100" dirty="0">
                <a:solidFill>
                  <a:srgbClr val="1F2937"/>
                </a:solidFill>
              </a:rPr>
              <a:t>' is binary; a Logit link function is used to model the probability of success.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68553" y="99187"/>
            <a:ext cx="2560320" cy="347472"/>
          </a:xfrm>
          <a:prstGeom prst="rect">
            <a:avLst/>
          </a:prstGeom>
          <a:noFill/>
        </p:spPr>
        <p:txBody>
          <a:bodyPr wrap="square" rtlCol="0" anchor="ctr"/>
          <a:lstStyle/>
          <a:p>
            <a:pPr marL="0" indent="0">
              <a:buNone/>
            </a:pPr>
            <a:r>
              <a:rPr lang="en-US" sz="1600" b="1" dirty="0">
                <a:solidFill>
                  <a:srgbClr val="9AA0A6"/>
                </a:solidFill>
              </a:rPr>
              <a:t>Part 3</a:t>
            </a:r>
            <a:endParaRPr lang="en-US" sz="1600" dirty="0"/>
          </a:p>
        </p:txBody>
      </p:sp>
      <p:sp>
        <p:nvSpPr>
          <p:cNvPr id="3" name="Text 1"/>
          <p:cNvSpPr/>
          <p:nvPr/>
        </p:nvSpPr>
        <p:spPr>
          <a:xfrm>
            <a:off x="658368" y="436753"/>
            <a:ext cx="6675120" cy="566928"/>
          </a:xfrm>
          <a:prstGeom prst="rect">
            <a:avLst/>
          </a:prstGeom>
          <a:noFill/>
        </p:spPr>
        <p:txBody>
          <a:bodyPr wrap="square" lIns="0" tIns="0" rIns="0" bIns="0" rtlCol="0" anchor="ctr"/>
          <a:lstStyle/>
          <a:p>
            <a:pPr marL="0" indent="0">
              <a:buNone/>
            </a:pPr>
            <a:r>
              <a:rPr lang="en-US" sz="2400" b="1" dirty="0">
                <a:solidFill>
                  <a:srgbClr val="1F2937"/>
                </a:solidFill>
              </a:rPr>
              <a:t>Final Model: Main Findings</a:t>
            </a:r>
            <a:endParaRPr lang="en-US" sz="2400" dirty="0"/>
          </a:p>
        </p:txBody>
      </p:sp>
      <p:sp>
        <p:nvSpPr>
          <p:cNvPr id="6" name="Shape 3"/>
          <p:cNvSpPr/>
          <p:nvPr/>
        </p:nvSpPr>
        <p:spPr>
          <a:xfrm>
            <a:off x="739648" y="1127030"/>
            <a:ext cx="3703320" cy="2558309"/>
          </a:xfrm>
          <a:prstGeom prst="roundRect">
            <a:avLst>
              <a:gd name="adj" fmla="val 1235"/>
            </a:avLst>
          </a:prstGeom>
          <a:solidFill>
            <a:srgbClr val="FFFFFF"/>
          </a:solidFill>
          <a:ln w="12700">
            <a:solidFill>
              <a:srgbClr val="D6DCE5"/>
            </a:solidFill>
            <a:prstDash val="solid"/>
          </a:ln>
        </p:spPr>
        <p:txBody>
          <a:bodyPr/>
          <a:lstStyle/>
          <a:p>
            <a:endParaRPr lang="zh-CN" altLang="en-US"/>
          </a:p>
        </p:txBody>
      </p:sp>
      <p:sp>
        <p:nvSpPr>
          <p:cNvPr id="7" name="Text 4"/>
          <p:cNvSpPr/>
          <p:nvPr/>
        </p:nvSpPr>
        <p:spPr>
          <a:xfrm>
            <a:off x="868553" y="1218839"/>
            <a:ext cx="3017520" cy="237744"/>
          </a:xfrm>
          <a:prstGeom prst="rect">
            <a:avLst/>
          </a:prstGeom>
          <a:noFill/>
        </p:spPr>
        <p:txBody>
          <a:bodyPr wrap="square" lIns="0" tIns="0" rIns="0" bIns="0" rtlCol="0" anchor="ctr"/>
          <a:lstStyle/>
          <a:p>
            <a:pPr marL="0" indent="0">
              <a:buNone/>
            </a:pPr>
            <a:r>
              <a:rPr lang="en-US" sz="1600" b="1" dirty="0">
                <a:solidFill>
                  <a:srgbClr val="2F5EA8"/>
                </a:solidFill>
              </a:rPr>
              <a:t>Easy reading of the final model</a:t>
            </a:r>
            <a:endParaRPr lang="en-US" sz="1600" dirty="0"/>
          </a:p>
        </p:txBody>
      </p:sp>
      <p:sp>
        <p:nvSpPr>
          <p:cNvPr id="8" name="Text 5"/>
          <p:cNvSpPr/>
          <p:nvPr/>
        </p:nvSpPr>
        <p:spPr>
          <a:xfrm>
            <a:off x="868680" y="1495678"/>
            <a:ext cx="3127248" cy="2103120"/>
          </a:xfrm>
          <a:prstGeom prst="rect">
            <a:avLst/>
          </a:prstGeom>
          <a:noFill/>
        </p:spPr>
        <p:txBody>
          <a:bodyPr wrap="square" lIns="254" tIns="254" rIns="254" bIns="254" rtlCol="0" anchor="ctr"/>
          <a:lstStyle/>
          <a:p>
            <a:pPr marL="203200" indent="-203200">
              <a:buSzPct val="100000"/>
              <a:buChar char="•"/>
            </a:pPr>
            <a:r>
              <a:rPr lang="en-US" sz="1400" dirty="0">
                <a:solidFill>
                  <a:srgbClr val="1F2937"/>
                </a:solidFill>
              </a:rPr>
              <a:t>As year increases, the odds go up slightly (OR 1.010).</a:t>
            </a:r>
            <a:endParaRPr lang="en-US" sz="1400" dirty="0"/>
          </a:p>
          <a:p>
            <a:pPr marL="203200" indent="-203200">
              <a:buSzPct val="100000"/>
              <a:buChar char="•"/>
            </a:pPr>
            <a:r>
              <a:rPr lang="en-US" sz="1400" dirty="0">
                <a:solidFill>
                  <a:srgbClr val="1F2937"/>
                </a:solidFill>
              </a:rPr>
              <a:t>As film length increases, the odds go down (OR 0.945).</a:t>
            </a:r>
            <a:endParaRPr lang="en-US" sz="1400" dirty="0"/>
          </a:p>
          <a:p>
            <a:pPr marL="203200" indent="-203200">
              <a:buSzPct val="100000"/>
              <a:buChar char="•"/>
            </a:pPr>
            <a:r>
              <a:rPr lang="en-US" sz="1400" dirty="0">
                <a:solidFill>
                  <a:srgbClr val="1F2937"/>
                </a:solidFill>
              </a:rPr>
              <a:t>Higher budget raises the odds (OR 1.665).</a:t>
            </a:r>
            <a:endParaRPr lang="en-US" sz="1400" dirty="0"/>
          </a:p>
          <a:p>
            <a:pPr marL="203200" indent="-203200">
              <a:buSzPct val="100000"/>
              <a:buChar char="•"/>
            </a:pPr>
            <a:r>
              <a:rPr lang="en-US" sz="1400" dirty="0">
                <a:solidFill>
                  <a:srgbClr val="1F2937"/>
                </a:solidFill>
              </a:rPr>
              <a:t>Documentary, Short, and Comedy have much higher odds than Action.</a:t>
            </a:r>
            <a:endParaRPr lang="en-US" sz="1400" dirty="0"/>
          </a:p>
          <a:p>
            <a:pPr marL="203200" indent="-203200">
              <a:buSzPct val="100000"/>
              <a:buChar char="•"/>
            </a:pPr>
            <a:r>
              <a:rPr lang="en-US" sz="1400" dirty="0">
                <a:solidFill>
                  <a:srgbClr val="1F2937"/>
                </a:solidFill>
              </a:rPr>
              <a:t>Drama has lower odds than Action.</a:t>
            </a:r>
            <a:endParaRPr lang="en-US" sz="1400" dirty="0"/>
          </a:p>
        </p:txBody>
      </p:sp>
      <p:sp>
        <p:nvSpPr>
          <p:cNvPr id="25" name="Slide Number Placeholder 0"/>
          <p:cNvSpPr>
            <a:spLocks noGrp="1"/>
          </p:cNvSpPr>
          <p:nvPr>
            <p:ph type="sldNum" sz="quarter" idx="4294967295"/>
          </p:nvPr>
        </p:nvSpPr>
        <p:spPr>
          <a:xfrm>
            <a:off x="502920" y="6446520"/>
            <a:ext cx="365760" cy="182880"/>
          </a:xfrm>
          <a:prstGeom prst="rect">
            <a:avLst/>
          </a:prstGeom>
        </p:spPr>
        <p:txBody>
          <a:bodyPr/>
          <a:lstStyle>
            <a:lvl1pPr>
              <a:defRPr sz="800">
                <a:solidFill>
                  <a:srgbClr val="9A9A9A"/>
                </a:solidFill>
              </a:defRPr>
            </a:lvl1pPr>
          </a:lstStyle>
          <a:p>
            <a:pPr algn="l"/>
            <a:fld id="{F7021451-1387-4CA6-816F-3879F97B5CBC}" type="slidenum">
              <a:rPr lang="en-US" b="0"/>
              <a:t>6</a:t>
            </a:fld>
            <a:endParaRPr lang="en-US"/>
          </a:p>
        </p:txBody>
      </p:sp>
      <p:pic>
        <p:nvPicPr>
          <p:cNvPr id="10" name="图片 9" descr="fig-pred-prob-1"/>
          <p:cNvPicPr>
            <a:picLocks noChangeAspect="1"/>
          </p:cNvPicPr>
          <p:nvPr/>
        </p:nvPicPr>
        <p:blipFill>
          <a:blip r:embed="rId3"/>
          <a:stretch>
            <a:fillRect/>
          </a:stretch>
        </p:blipFill>
        <p:spPr>
          <a:xfrm>
            <a:off x="5808474" y="1046480"/>
            <a:ext cx="4775200" cy="3092492"/>
          </a:xfrm>
          <a:prstGeom prst="rect">
            <a:avLst/>
          </a:prstGeom>
        </p:spPr>
      </p:pic>
      <p:grpSp>
        <p:nvGrpSpPr>
          <p:cNvPr id="9" name="组合 8"/>
          <p:cNvGrpSpPr/>
          <p:nvPr/>
        </p:nvGrpSpPr>
        <p:grpSpPr>
          <a:xfrm>
            <a:off x="5808601" y="4463500"/>
            <a:ext cx="5572760" cy="1829308"/>
            <a:chOff x="1209675" y="4909947"/>
            <a:chExt cx="5572760" cy="1829308"/>
          </a:xfrm>
        </p:grpSpPr>
        <p:sp>
          <p:nvSpPr>
            <p:cNvPr id="13" name="Text 5"/>
            <p:cNvSpPr/>
            <p:nvPr/>
          </p:nvSpPr>
          <p:spPr>
            <a:xfrm>
              <a:off x="1209675" y="5147310"/>
              <a:ext cx="5572760" cy="1591945"/>
            </a:xfrm>
            <a:prstGeom prst="rect">
              <a:avLst/>
            </a:prstGeom>
            <a:noFill/>
          </p:spPr>
          <p:txBody>
            <a:bodyPr wrap="square" lIns="254" tIns="254" rIns="254" bIns="254" rtlCol="0" anchor="ctr"/>
            <a:lstStyle/>
            <a:p>
              <a:pPr marL="203200" indent="-203200">
                <a:buSzPct val="100000"/>
                <a:buChar char="•"/>
              </a:pPr>
              <a:r>
                <a:rPr lang="en-US" altLang="zh-CN" sz="1400" dirty="0">
                  <a:solidFill>
                    <a:srgbClr val="1F2937"/>
                  </a:solidFill>
                </a:rPr>
                <a:t>As film length increases, the predicted probability of a high rating becomes lower.</a:t>
              </a:r>
            </a:p>
            <a:p>
              <a:pPr marL="203200" indent="-203200">
                <a:buSzPct val="100000"/>
                <a:buChar char="•"/>
              </a:pPr>
              <a:r>
                <a:rPr lang="en-US" altLang="zh-CN" sz="1400" dirty="0">
                  <a:solidFill>
                    <a:srgbClr val="1F2937"/>
                  </a:solidFill>
                </a:rPr>
                <a:t>Documentary films keep the highest predicted probability across most film lengths.</a:t>
              </a:r>
            </a:p>
            <a:p>
              <a:pPr marL="203200" indent="-203200">
                <a:buSzPct val="100000"/>
                <a:buChar char="•"/>
              </a:pPr>
              <a:r>
                <a:rPr lang="en-US" altLang="zh-CN" sz="1400" dirty="0">
                  <a:solidFill>
                    <a:srgbClr val="1F2937"/>
                  </a:solidFill>
                </a:rPr>
                <a:t>Drama films have the lowest predicted probability.</a:t>
              </a:r>
            </a:p>
            <a:p>
              <a:pPr marL="203200" indent="-203200">
                <a:buSzPct val="100000"/>
                <a:buChar char="•"/>
              </a:pPr>
              <a:r>
                <a:rPr lang="en-US" altLang="zh-CN" sz="1400" dirty="0">
                  <a:solidFill>
                    <a:srgbClr val="1F2937"/>
                  </a:solidFill>
                </a:rPr>
                <a:t>The figure shows the joint effect of film length and genre, while other variables are held constant.</a:t>
              </a:r>
              <a:endParaRPr lang="en-US" sz="1400" dirty="0"/>
            </a:p>
          </p:txBody>
        </p:sp>
        <p:sp>
          <p:nvSpPr>
            <p:cNvPr id="14" name="Text 4"/>
            <p:cNvSpPr/>
            <p:nvPr/>
          </p:nvSpPr>
          <p:spPr>
            <a:xfrm>
              <a:off x="1209802" y="4909947"/>
              <a:ext cx="3017520" cy="237744"/>
            </a:xfrm>
            <a:prstGeom prst="rect">
              <a:avLst/>
            </a:prstGeom>
            <a:noFill/>
          </p:spPr>
          <p:txBody>
            <a:bodyPr wrap="square" lIns="0" tIns="0" rIns="0" bIns="0" rtlCol="0" anchor="ctr"/>
            <a:lstStyle/>
            <a:p>
              <a:pPr marL="0" indent="0">
                <a:buNone/>
              </a:pPr>
              <a:r>
                <a:rPr lang="en-US" sz="1600" b="1" dirty="0">
                  <a:solidFill>
                    <a:srgbClr val="2F5EA8"/>
                  </a:solidFill>
                </a:rPr>
                <a:t>What we learn</a:t>
              </a:r>
            </a:p>
          </p:txBody>
        </p:sp>
      </p:grpSp>
      <p:pic>
        <p:nvPicPr>
          <p:cNvPr id="11" name="图片 10"/>
          <p:cNvPicPr>
            <a:picLocks noChangeAspect="1"/>
          </p:cNvPicPr>
          <p:nvPr/>
        </p:nvPicPr>
        <p:blipFill>
          <a:blip r:embed="rId4"/>
          <a:stretch>
            <a:fillRect/>
          </a:stretch>
        </p:blipFill>
        <p:spPr>
          <a:xfrm>
            <a:off x="739648" y="3906520"/>
            <a:ext cx="3703320" cy="26314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58368" y="338328"/>
            <a:ext cx="6675120" cy="566928"/>
          </a:xfrm>
          <a:prstGeom prst="rect">
            <a:avLst/>
          </a:prstGeom>
          <a:noFill/>
        </p:spPr>
        <p:txBody>
          <a:bodyPr wrap="square" lIns="0" tIns="0" rIns="0" bIns="0" rtlCol="0" anchor="ctr"/>
          <a:lstStyle/>
          <a:p>
            <a:pPr marL="0" indent="0">
              <a:buNone/>
            </a:pPr>
            <a:r>
              <a:rPr lang="en-US" altLang="zh-CN" sz="2400" b="1" dirty="0">
                <a:solidFill>
                  <a:srgbClr val="1F2937"/>
                </a:solidFill>
              </a:rPr>
              <a:t>Model Limitation</a:t>
            </a:r>
          </a:p>
        </p:txBody>
      </p:sp>
      <p:sp>
        <p:nvSpPr>
          <p:cNvPr id="4" name="Shape 2"/>
          <p:cNvSpPr/>
          <p:nvPr>
            <p:custDataLst>
              <p:tags r:id="rId1"/>
            </p:custDataLst>
          </p:nvPr>
        </p:nvSpPr>
        <p:spPr>
          <a:xfrm>
            <a:off x="795020" y="2005965"/>
            <a:ext cx="10241280" cy="914400"/>
          </a:xfrm>
          <a:prstGeom prst="roundRect">
            <a:avLst>
              <a:gd name="adj" fmla="val 4000"/>
            </a:avLst>
          </a:prstGeom>
          <a:solidFill>
            <a:srgbClr val="FFFFFF"/>
          </a:solidFill>
          <a:ln w="12700">
            <a:solidFill>
              <a:srgbClr val="D6DCE5"/>
            </a:solidFill>
            <a:prstDash val="solid"/>
          </a:ln>
        </p:spPr>
        <p:txBody>
          <a:bodyPr/>
          <a:lstStyle/>
          <a:p>
            <a:endParaRPr lang="zh-CN" altLang="en-US"/>
          </a:p>
        </p:txBody>
      </p:sp>
      <p:sp>
        <p:nvSpPr>
          <p:cNvPr id="5" name="Text 3"/>
          <p:cNvSpPr/>
          <p:nvPr>
            <p:custDataLst>
              <p:tags r:id="rId2"/>
            </p:custDataLst>
          </p:nvPr>
        </p:nvSpPr>
        <p:spPr>
          <a:xfrm>
            <a:off x="1004570" y="2259330"/>
            <a:ext cx="1684020" cy="407670"/>
          </a:xfrm>
          <a:prstGeom prst="rect">
            <a:avLst/>
          </a:prstGeom>
          <a:noFill/>
        </p:spPr>
        <p:txBody>
          <a:bodyPr wrap="square" lIns="0" tIns="0" rIns="0" bIns="0" rtlCol="0" anchor="ctr"/>
          <a:lstStyle/>
          <a:p>
            <a:pPr marL="0" indent="0">
              <a:buNone/>
            </a:pPr>
            <a:r>
              <a:rPr lang="en-US" sz="1600" b="1" dirty="0">
                <a:solidFill>
                  <a:srgbClr val="1F2937"/>
                </a:solidFill>
              </a:rPr>
              <a:t>Limited variables</a:t>
            </a:r>
          </a:p>
        </p:txBody>
      </p:sp>
      <p:sp>
        <p:nvSpPr>
          <p:cNvPr id="6" name="Text 4"/>
          <p:cNvSpPr/>
          <p:nvPr>
            <p:custDataLst>
              <p:tags r:id="rId3"/>
            </p:custDataLst>
          </p:nvPr>
        </p:nvSpPr>
        <p:spPr>
          <a:xfrm>
            <a:off x="3126740" y="2325878"/>
            <a:ext cx="7269480" cy="274320"/>
          </a:xfrm>
          <a:prstGeom prst="rect">
            <a:avLst/>
          </a:prstGeom>
          <a:noFill/>
        </p:spPr>
        <p:txBody>
          <a:bodyPr wrap="square" lIns="0" tIns="0" rIns="0" bIns="0" rtlCol="0" anchor="ctr"/>
          <a:lstStyle/>
          <a:p>
            <a:pPr marL="0" indent="0">
              <a:buNone/>
            </a:pPr>
            <a:r>
              <a:rPr lang="en-US" altLang="zh-CN" sz="1400" dirty="0"/>
              <a:t>The dataset does not include factors such as director, cast, awards, or marketing.</a:t>
            </a:r>
          </a:p>
        </p:txBody>
      </p:sp>
      <p:sp>
        <p:nvSpPr>
          <p:cNvPr id="7" name="Shape 5"/>
          <p:cNvSpPr/>
          <p:nvPr>
            <p:custDataLst>
              <p:tags r:id="rId4"/>
            </p:custDataLst>
          </p:nvPr>
        </p:nvSpPr>
        <p:spPr>
          <a:xfrm>
            <a:off x="795020" y="3148965"/>
            <a:ext cx="10241280" cy="914400"/>
          </a:xfrm>
          <a:prstGeom prst="roundRect">
            <a:avLst>
              <a:gd name="adj" fmla="val 4000"/>
            </a:avLst>
          </a:prstGeom>
          <a:solidFill>
            <a:srgbClr val="FFFFFF"/>
          </a:solidFill>
          <a:ln w="12700">
            <a:solidFill>
              <a:srgbClr val="D6DCE5"/>
            </a:solidFill>
            <a:prstDash val="solid"/>
          </a:ln>
        </p:spPr>
        <p:txBody>
          <a:bodyPr/>
          <a:lstStyle/>
          <a:p>
            <a:endParaRPr lang="zh-CN" altLang="en-US"/>
          </a:p>
        </p:txBody>
      </p:sp>
      <p:sp>
        <p:nvSpPr>
          <p:cNvPr id="8" name="Text 6"/>
          <p:cNvSpPr/>
          <p:nvPr>
            <p:custDataLst>
              <p:tags r:id="rId5"/>
            </p:custDataLst>
          </p:nvPr>
        </p:nvSpPr>
        <p:spPr>
          <a:xfrm>
            <a:off x="1004570" y="3448050"/>
            <a:ext cx="1550035" cy="316230"/>
          </a:xfrm>
          <a:prstGeom prst="rect">
            <a:avLst/>
          </a:prstGeom>
          <a:noFill/>
        </p:spPr>
        <p:txBody>
          <a:bodyPr wrap="square" lIns="0" tIns="0" rIns="0" bIns="0" rtlCol="0" anchor="ctr"/>
          <a:lstStyle/>
          <a:p>
            <a:pPr marL="0" indent="0">
              <a:buNone/>
            </a:pPr>
            <a:r>
              <a:rPr lang="en-US" sz="1600" b="1" dirty="0">
                <a:solidFill>
                  <a:srgbClr val="1F2937"/>
                </a:solidFill>
              </a:rPr>
              <a:t>Missing values</a:t>
            </a:r>
          </a:p>
        </p:txBody>
      </p:sp>
      <p:sp>
        <p:nvSpPr>
          <p:cNvPr id="9" name="Text 7"/>
          <p:cNvSpPr/>
          <p:nvPr>
            <p:custDataLst>
              <p:tags r:id="rId6"/>
            </p:custDataLst>
          </p:nvPr>
        </p:nvSpPr>
        <p:spPr>
          <a:xfrm>
            <a:off x="3126740" y="3490468"/>
            <a:ext cx="7269480" cy="274320"/>
          </a:xfrm>
          <a:prstGeom prst="rect">
            <a:avLst/>
          </a:prstGeom>
          <a:noFill/>
        </p:spPr>
        <p:txBody>
          <a:bodyPr wrap="square" lIns="0" tIns="0" rIns="0" bIns="0" rtlCol="0" anchor="ctr"/>
          <a:lstStyle/>
          <a:p>
            <a:pPr marL="0" indent="0">
              <a:buNone/>
            </a:pPr>
            <a:r>
              <a:rPr lang="en-US" altLang="zh-CN" sz="1400" dirty="0"/>
              <a:t>Missing film length values were removed, which reduced the sample size and may cause bias.</a:t>
            </a:r>
          </a:p>
        </p:txBody>
      </p:sp>
      <p:sp>
        <p:nvSpPr>
          <p:cNvPr id="10" name="Shape 8"/>
          <p:cNvSpPr/>
          <p:nvPr>
            <p:custDataLst>
              <p:tags r:id="rId7"/>
            </p:custDataLst>
          </p:nvPr>
        </p:nvSpPr>
        <p:spPr>
          <a:xfrm>
            <a:off x="795020" y="4291965"/>
            <a:ext cx="10241280" cy="914400"/>
          </a:xfrm>
          <a:prstGeom prst="roundRect">
            <a:avLst>
              <a:gd name="adj" fmla="val 4000"/>
            </a:avLst>
          </a:prstGeom>
          <a:solidFill>
            <a:srgbClr val="F2F5FA"/>
          </a:solidFill>
          <a:ln w="12700">
            <a:solidFill>
              <a:srgbClr val="D6DCE5"/>
            </a:solidFill>
            <a:prstDash val="solid"/>
          </a:ln>
        </p:spPr>
        <p:txBody>
          <a:bodyPr/>
          <a:lstStyle/>
          <a:p>
            <a:endParaRPr lang="zh-CN" altLang="en-US"/>
          </a:p>
        </p:txBody>
      </p:sp>
      <p:sp>
        <p:nvSpPr>
          <p:cNvPr id="11" name="Text 9"/>
          <p:cNvSpPr/>
          <p:nvPr>
            <p:custDataLst>
              <p:tags r:id="rId8"/>
            </p:custDataLst>
          </p:nvPr>
        </p:nvSpPr>
        <p:spPr>
          <a:xfrm>
            <a:off x="1004570" y="4545330"/>
            <a:ext cx="2037715" cy="354965"/>
          </a:xfrm>
          <a:prstGeom prst="rect">
            <a:avLst/>
          </a:prstGeom>
          <a:noFill/>
        </p:spPr>
        <p:txBody>
          <a:bodyPr wrap="square" lIns="0" tIns="0" rIns="0" bIns="0" rtlCol="0" anchor="ctr"/>
          <a:lstStyle/>
          <a:p>
            <a:pPr marL="0" indent="0">
              <a:buNone/>
            </a:pPr>
            <a:r>
              <a:rPr lang="en-US" sz="1600" b="1" dirty="0">
                <a:solidFill>
                  <a:srgbClr val="1F2937"/>
                </a:solidFill>
              </a:rPr>
              <a:t>Small genre groups</a:t>
            </a:r>
          </a:p>
        </p:txBody>
      </p:sp>
      <p:sp>
        <p:nvSpPr>
          <p:cNvPr id="12" name="Text 10"/>
          <p:cNvSpPr/>
          <p:nvPr>
            <p:custDataLst>
              <p:tags r:id="rId9"/>
            </p:custDataLst>
          </p:nvPr>
        </p:nvSpPr>
        <p:spPr>
          <a:xfrm>
            <a:off x="3126740" y="4611878"/>
            <a:ext cx="7269480" cy="274320"/>
          </a:xfrm>
          <a:prstGeom prst="rect">
            <a:avLst/>
          </a:prstGeom>
          <a:noFill/>
        </p:spPr>
        <p:txBody>
          <a:bodyPr wrap="square" lIns="0" tIns="0" rIns="0" bIns="0" rtlCol="0" anchor="ctr"/>
          <a:lstStyle/>
          <a:p>
            <a:pPr marL="0" indent="0">
              <a:buNone/>
            </a:pPr>
            <a:r>
              <a:rPr lang="en-US" altLang="zh-CN" sz="1400" dirty="0"/>
              <a:t>Some genres have few films, so their coefficient estimates may be less stable.</a:t>
            </a:r>
          </a:p>
        </p:txBody>
      </p:sp>
      <p:sp>
        <p:nvSpPr>
          <p:cNvPr id="25" name="Slide Number Placeholder 0"/>
          <p:cNvSpPr>
            <a:spLocks noGrp="1"/>
          </p:cNvSpPr>
          <p:nvPr>
            <p:ph type="sldNum" sz="quarter" idx="4294967295"/>
          </p:nvPr>
        </p:nvSpPr>
        <p:spPr>
          <a:xfrm>
            <a:off x="502920" y="6446520"/>
            <a:ext cx="365760" cy="182880"/>
          </a:xfrm>
          <a:prstGeom prst="rect">
            <a:avLst/>
          </a:prstGeom>
        </p:spPr>
        <p:txBody>
          <a:bodyPr/>
          <a:lstStyle>
            <a:lvl1pPr>
              <a:defRPr sz="800">
                <a:solidFill>
                  <a:srgbClr val="9A9A9A"/>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58368" y="338328"/>
            <a:ext cx="6675120" cy="566928"/>
          </a:xfrm>
          <a:prstGeom prst="rect">
            <a:avLst/>
          </a:prstGeom>
          <a:noFill/>
        </p:spPr>
        <p:txBody>
          <a:bodyPr wrap="square" lIns="0" tIns="0" rIns="0" bIns="0" rtlCol="0" anchor="ctr"/>
          <a:lstStyle/>
          <a:p>
            <a:pPr marL="0" indent="0">
              <a:buNone/>
            </a:pPr>
            <a:r>
              <a:rPr lang="en-US" sz="2400" b="1" dirty="0">
                <a:solidFill>
                  <a:srgbClr val="1F2937"/>
                </a:solidFill>
              </a:rPr>
              <a:t>Future work &amp; Conclusion</a:t>
            </a:r>
            <a:endParaRPr lang="en-US" sz="2400" dirty="0"/>
          </a:p>
        </p:txBody>
      </p:sp>
      <p:sp>
        <p:nvSpPr>
          <p:cNvPr id="25" name="Slide Number Placeholder 0"/>
          <p:cNvSpPr>
            <a:spLocks noGrp="1"/>
          </p:cNvSpPr>
          <p:nvPr>
            <p:ph type="sldNum" sz="quarter" idx="4294967295"/>
          </p:nvPr>
        </p:nvSpPr>
        <p:spPr>
          <a:xfrm>
            <a:off x="502920" y="6446520"/>
            <a:ext cx="365760" cy="182880"/>
          </a:xfrm>
          <a:prstGeom prst="rect">
            <a:avLst/>
          </a:prstGeom>
        </p:spPr>
        <p:txBody>
          <a:bodyPr/>
          <a:lstStyle>
            <a:lvl1pPr>
              <a:defRPr sz="800">
                <a:solidFill>
                  <a:srgbClr val="9A9A9A"/>
                </a:solidFill>
              </a:defRPr>
            </a:lvl1pPr>
          </a:lstStyle>
          <a:p>
            <a:pPr algn="l"/>
            <a:fld id="{F7021451-1387-4CA6-816F-3879F97B5CBC}" type="slidenum">
              <a:rPr lang="en-US" b="0"/>
              <a:t>8</a:t>
            </a:fld>
            <a:endParaRPr lang="en-US"/>
          </a:p>
        </p:txBody>
      </p:sp>
      <p:sp>
        <p:nvSpPr>
          <p:cNvPr id="15" name="Shape 2"/>
          <p:cNvSpPr/>
          <p:nvPr>
            <p:custDataLst>
              <p:tags r:id="rId1"/>
            </p:custDataLst>
          </p:nvPr>
        </p:nvSpPr>
        <p:spPr>
          <a:xfrm>
            <a:off x="795020" y="1505585"/>
            <a:ext cx="10241280" cy="1991995"/>
          </a:xfrm>
          <a:prstGeom prst="roundRect">
            <a:avLst>
              <a:gd name="adj" fmla="val 4000"/>
            </a:avLst>
          </a:prstGeom>
          <a:solidFill>
            <a:srgbClr val="FFFFFF"/>
          </a:solidFill>
          <a:ln w="12700">
            <a:solidFill>
              <a:srgbClr val="D6DCE5"/>
            </a:solidFill>
            <a:prstDash val="solid"/>
          </a:ln>
        </p:spPr>
        <p:txBody>
          <a:bodyPr/>
          <a:lstStyle/>
          <a:p>
            <a:endParaRPr lang="zh-CN" altLang="en-US"/>
          </a:p>
        </p:txBody>
      </p:sp>
      <p:sp>
        <p:nvSpPr>
          <p:cNvPr id="16" name="Text 3"/>
          <p:cNvSpPr/>
          <p:nvPr>
            <p:custDataLst>
              <p:tags r:id="rId2"/>
            </p:custDataLst>
          </p:nvPr>
        </p:nvSpPr>
        <p:spPr>
          <a:xfrm>
            <a:off x="1226820" y="2297747"/>
            <a:ext cx="1684020" cy="407670"/>
          </a:xfrm>
          <a:prstGeom prst="rect">
            <a:avLst/>
          </a:prstGeom>
          <a:noFill/>
        </p:spPr>
        <p:txBody>
          <a:bodyPr wrap="square" lIns="0" tIns="0" rIns="0" bIns="0" rtlCol="0" anchor="ctr"/>
          <a:lstStyle/>
          <a:p>
            <a:pPr marL="0" indent="0">
              <a:buNone/>
            </a:pPr>
            <a:r>
              <a:rPr lang="en-US" altLang="zh-CN" sz="1600" b="1" dirty="0">
                <a:solidFill>
                  <a:srgbClr val="1F2937"/>
                </a:solidFill>
              </a:rPr>
              <a:t>Future work </a:t>
            </a:r>
          </a:p>
        </p:txBody>
      </p:sp>
      <p:sp>
        <p:nvSpPr>
          <p:cNvPr id="17" name="Text 4"/>
          <p:cNvSpPr/>
          <p:nvPr>
            <p:custDataLst>
              <p:tags r:id="rId3"/>
            </p:custDataLst>
          </p:nvPr>
        </p:nvSpPr>
        <p:spPr>
          <a:xfrm>
            <a:off x="2979420" y="1930400"/>
            <a:ext cx="8045450" cy="1188720"/>
          </a:xfrm>
          <a:prstGeom prst="rect">
            <a:avLst/>
          </a:prstGeom>
          <a:noFill/>
        </p:spPr>
        <p:txBody>
          <a:bodyPr wrap="square" lIns="0" tIns="0" rIns="0" bIns="0" rtlCol="0" anchor="ctr"/>
          <a:lstStyle/>
          <a:p>
            <a:r>
              <a:rPr lang="en-US" altLang="zh-CN" sz="1400" dirty="0"/>
              <a:t>1. Expand variables: Add factors like director, cast, and awards to the model.</a:t>
            </a:r>
          </a:p>
          <a:p>
            <a:endParaRPr lang="en-US" altLang="zh-CN" sz="1400" dirty="0"/>
          </a:p>
          <a:p>
            <a:r>
              <a:rPr lang="en-US" altLang="zh-CN" sz="1400" dirty="0"/>
              <a:t>2. Handle missing data: Use imputation methods instead of removing incomplete records.</a:t>
            </a:r>
          </a:p>
          <a:p>
            <a:endParaRPr lang="en-US" altLang="zh-CN" sz="1400" dirty="0"/>
          </a:p>
          <a:p>
            <a:r>
              <a:rPr lang="en-US" altLang="zh-CN" sz="1400" dirty="0"/>
              <a:t>3. Explore interactions: Investigate interaction effects between variables like  budget and release periods.</a:t>
            </a:r>
          </a:p>
        </p:txBody>
      </p:sp>
      <p:sp>
        <p:nvSpPr>
          <p:cNvPr id="21" name="Shape 8"/>
          <p:cNvSpPr/>
          <p:nvPr>
            <p:custDataLst>
              <p:tags r:id="rId4"/>
            </p:custDataLst>
          </p:nvPr>
        </p:nvSpPr>
        <p:spPr>
          <a:xfrm>
            <a:off x="795020" y="4325620"/>
            <a:ext cx="10240645" cy="914400"/>
          </a:xfrm>
          <a:prstGeom prst="roundRect">
            <a:avLst>
              <a:gd name="adj" fmla="val 4000"/>
            </a:avLst>
          </a:prstGeom>
          <a:solidFill>
            <a:srgbClr val="F2F5FA"/>
          </a:solidFill>
          <a:ln w="12700">
            <a:solidFill>
              <a:srgbClr val="D6DCE5"/>
            </a:solidFill>
            <a:prstDash val="solid"/>
          </a:ln>
        </p:spPr>
        <p:txBody>
          <a:bodyPr/>
          <a:lstStyle/>
          <a:p>
            <a:endParaRPr lang="zh-CN" altLang="en-US"/>
          </a:p>
        </p:txBody>
      </p:sp>
      <p:sp>
        <p:nvSpPr>
          <p:cNvPr id="22" name="Text 9"/>
          <p:cNvSpPr/>
          <p:nvPr>
            <p:custDataLst>
              <p:tags r:id="rId5"/>
            </p:custDataLst>
          </p:nvPr>
        </p:nvSpPr>
        <p:spPr>
          <a:xfrm>
            <a:off x="1226820" y="4565015"/>
            <a:ext cx="1320800" cy="354965"/>
          </a:xfrm>
          <a:prstGeom prst="rect">
            <a:avLst/>
          </a:prstGeom>
          <a:noFill/>
        </p:spPr>
        <p:txBody>
          <a:bodyPr wrap="square" lIns="0" tIns="0" rIns="0" bIns="0" rtlCol="0" anchor="ctr"/>
          <a:lstStyle/>
          <a:p>
            <a:pPr marL="0" indent="0">
              <a:buNone/>
            </a:pPr>
            <a:r>
              <a:rPr lang="en-US" altLang="zh-CN" sz="1600" b="1" dirty="0">
                <a:solidFill>
                  <a:srgbClr val="1F2937"/>
                </a:solidFill>
              </a:rPr>
              <a:t>Key message</a:t>
            </a:r>
          </a:p>
        </p:txBody>
      </p:sp>
      <p:sp>
        <p:nvSpPr>
          <p:cNvPr id="23" name="Text 10"/>
          <p:cNvSpPr/>
          <p:nvPr>
            <p:custDataLst>
              <p:tags r:id="rId6"/>
            </p:custDataLst>
          </p:nvPr>
        </p:nvSpPr>
        <p:spPr>
          <a:xfrm>
            <a:off x="2990215" y="4528185"/>
            <a:ext cx="7269480" cy="508635"/>
          </a:xfrm>
          <a:prstGeom prst="rect">
            <a:avLst/>
          </a:prstGeom>
          <a:noFill/>
        </p:spPr>
        <p:txBody>
          <a:bodyPr wrap="square" lIns="0" tIns="0" rIns="0" bIns="0" rtlCol="0" anchor="ctr"/>
          <a:lstStyle/>
          <a:p>
            <a:pPr marL="0" indent="0">
              <a:buNone/>
            </a:pPr>
            <a:r>
              <a:rPr lang="en-US" altLang="zh-CN" sz="1400" dirty="0"/>
              <a:t>Longer films were less likely to receive high ratings, while newer films, higher-budget films, and some genres showed higher probabilities of receiving ratings above 7.</a:t>
            </a:r>
          </a:p>
        </p:txBody>
      </p:sp>
      <p:sp>
        <p:nvSpPr>
          <p:cNvPr id="3" name="文本框 2"/>
          <p:cNvSpPr txBox="1"/>
          <p:nvPr/>
        </p:nvSpPr>
        <p:spPr>
          <a:xfrm>
            <a:off x="795020" y="5861844"/>
            <a:ext cx="10785475" cy="276999"/>
          </a:xfrm>
          <a:prstGeom prst="rect">
            <a:avLst/>
          </a:prstGeom>
          <a:noFill/>
        </p:spPr>
        <p:txBody>
          <a:bodyPr wrap="square" rtlCol="0">
            <a:spAutoFit/>
          </a:bodyPr>
          <a:lstStyle/>
          <a:p>
            <a:r>
              <a:rPr lang="en-US" altLang="zh-CN" sz="1200" i="1" dirty="0"/>
              <a:t>Data Source: A comprehensive subset of the IMDB database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02920" y="6446520"/>
            <a:ext cx="365760" cy="182880"/>
          </a:xfrm>
          <a:prstGeom prst="rect">
            <a:avLst/>
          </a:prstGeom>
        </p:spPr>
        <p:txBody>
          <a:bodyPr/>
          <a:lstStyle>
            <a:lvl1pPr>
              <a:defRPr sz="800">
                <a:solidFill>
                  <a:srgbClr val="9A9A9A"/>
                </a:solidFill>
              </a:defRPr>
            </a:lvl1pPr>
          </a:lstStyle>
          <a:p>
            <a:pPr algn="l"/>
            <a:fld id="{F7021451-1387-4CA6-816F-3879F97B5CBC}" type="slidenum">
              <a:rPr lang="en-US" b="0"/>
              <a:t>9</a:t>
            </a:fld>
            <a:endParaRPr lang="en-US"/>
          </a:p>
        </p:txBody>
      </p:sp>
      <p:pic>
        <p:nvPicPr>
          <p:cNvPr id="16" name="图片 15" descr="诗词鉴赏"/>
          <p:cNvPicPr>
            <a:picLocks noChangeAspect="1"/>
          </p:cNvPicPr>
          <p:nvPr>
            <p:custDataLst>
              <p:tags r:id="rId1"/>
            </p:custDataLst>
          </p:nvPr>
        </p:nvPicPr>
        <p:blipFill>
          <a:blip r:embed="rId4"/>
          <a:stretch>
            <a:fillRect/>
          </a:stretch>
        </p:blipFill>
        <p:spPr>
          <a:xfrm>
            <a:off x="2611755" y="1425575"/>
            <a:ext cx="6968490" cy="4006850"/>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144,&quot;left&quot;:63.36,&quot;top&quot;:223.2,&quot;width&quot;:874.0799999999999}"/>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144,&quot;left&quot;:63.36,&quot;top&quot;:223.2,&quot;width&quot;:874.0799999999999}"/>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144,&quot;left&quot;:63.36,&quot;top&quot;:223.2,&quot;width&quot;:874.0799999999999}"/>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144,&quot;left&quot;:63.36,&quot;top&quot;:223.2,&quot;width&quot;:874.0799999999999}"/>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144,&quot;left&quot;:63.36,&quot;top&quot;:223.2,&quot;width&quot;:874.0799999999999}"/>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144,&quot;left&quot;:63.36,&quot;top&quot;:223.2,&quot;width&quot;:874.0799999999999}"/>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144,&quot;left&quot;:63.36,&quot;top&quot;:223.2,&quot;width&quot;:874.0799999999999}"/>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144,&quot;left&quot;:63.36,&quot;top&quot;:223.2,&quot;width&quot;:874.0799999999999}"/>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144,&quot;left&quot;:63.36,&quot;top&quot;:223.2,&quot;width&quot;:874.0799999999999}"/>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144,&quot;left&quot;:63.36,&quot;top&quot;:223.2,&quot;width&quot;:874.0799999999999}"/>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144,&quot;left&quot;:63.36,&quot;top&quot;:223.2,&quot;width&quot;:874.0799999999999}"/>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144,&quot;left&quot;:63.36,&quot;top&quot;:223.2,&quot;width&quot;:874.0799999999999}"/>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293.3,&quot;left&quot;:62.6,&quot;top&quot;:116.65,&quot;width&quot;:815.8}"/>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293.3,&quot;left&quot;:62.6,&quot;top&quot;:116.65,&quot;width&quot;:815.8}"/>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293.3,&quot;left&quot;:62.6,&quot;top&quot;:116.65,&quot;width&quot;:815.8}"/>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293.3,&quot;left&quot;:62.6,&quot;top&quot;:116.65,&quot;width&quot;:815.8}"/>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293.3,&quot;left&quot;:62.6,&quot;top&quot;:116.65,&quot;width&quot;:815.8}"/>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293.3,&quot;left&quot;:62.6,&quot;top&quot;:116.65,&quot;width&quot;:815.8}"/>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293.3,&quot;left&quot;:62.6,&quot;top&quot;:116.65,&quot;width&quot;:815.8}"/>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293.3,&quot;left&quot;:62.6,&quot;top&quot;:116.65,&quot;width&quot;:815.8}"/>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293.3,&quot;left&quot;:62.6,&quot;top&quot;:116.65,&quot;width&quot;:815.8}"/>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293.3,&quot;left&quot;:62.6,&quot;top&quot;:116.65,&quot;width&quot;:815.8}"/>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293.3,&quot;left&quot;:62.6,&quot;top&quot;:116.65,&quot;width&quot;:815.8}"/>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293.3,&quot;left&quot;:62.6,&quot;top&quot;:116.65,&quot;width&quot;:815.8}"/>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293.3,&quot;left&quot;:62.6,&quot;top&quot;:116.65,&quot;width&quot;:815.8}"/>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293.3,&quot;left&quot;:62.6,&quot;top&quot;:116.65,&quot;width&quot;:815.8}"/>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293.3,&quot;left&quot;:62.6,&quot;top&quot;:116.65,&quot;width&quot;:815.8}"/>
</p:tagLst>
</file>

<file path=ppt/tags/tag36.xml><?xml version="1.0" encoding="utf-8"?>
<p:tagLst xmlns:a="http://schemas.openxmlformats.org/drawingml/2006/main" xmlns:r="http://schemas.openxmlformats.org/officeDocument/2006/relationships" xmlns:p="http://schemas.openxmlformats.org/presentationml/2006/main">
  <p:tag name="AIWORDART" val="{&quot;id&quot;:&quot;12934973450_1774032874586&quot;,&quot;md5&quot;:&quot;115a34294456077cc58d47cff94f9719&quot;}"/>
  <p:tag name="KSO_DOCER_RESOURCE_TRACE_INFO" val="{&quot;id&quot;:&quot;12934973450_1774032874586&quot;,&quot;origin&quot;:0,&quot;type&quot;:&quot;pictures&quot;,&quot;user&quot;:&quot;277871434&quot;}"/>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TotalTime>
  <Words>897</Words>
  <Application>Microsoft Office PowerPoint</Application>
  <PresentationFormat>宽屏</PresentationFormat>
  <Paragraphs>112</Paragraphs>
  <Slides>9</Slides>
  <Notes>9</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9</vt:i4>
      </vt:variant>
    </vt:vector>
  </HeadingPairs>
  <TitlesOfParts>
    <vt:vector size="12" baseType="lpstr">
      <vt:lpstr>Aptos</vt:lpstr>
      <vt:lpstr>Arial</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Group 8 Analysis</dc:title>
  <dc:subject>Group 8 film analysis presentation</dc:subject>
  <dc:creator>OpenAI</dc:creator>
  <cp:lastModifiedBy>睿 许</cp:lastModifiedBy>
  <cp:revision>29</cp:revision>
  <dcterms:created xsi:type="dcterms:W3CDTF">2026-03-21T21:32:08Z</dcterms:created>
  <dcterms:modified xsi:type="dcterms:W3CDTF">2026-03-22T18:00:04Z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2052-6.9.0.8865</vt:lpwstr>
  </property>
  <property fmtid="{D5CDD505-2E9C-101B-9397-08002B2CF9AE}" pid="3" name="ICV">
    <vt:lpwstr>21B9C143540F5738580EBF692B147239_43</vt:lpwstr>
  </property>
</Properties>
</file>